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- C:\Users\USER\Desktop\Tech Solutions\logo-tsp.svg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C:\Users\USER\Downloads\Quiks_School_Partnership_Proposal.docx</a:t>
            </a:r>
          </a:p>
          <a:p>
            <a:r>
              <a:t>- C:\Users\USER\Desktop\Tech Solutions\logo-tsp.svg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accent-field">
            <a:extLst>
              <a:ext uri="{FF2B5EF4-FFF2-40B4-BE49-F238E27FC236}">
                <a16:creationId xmlns:a16="http://schemas.microsoft.com/office/drawing/2014/main" id="{BF76A636-2C83-4F95-A320-E0D3AF2F76BD}"/>
              </a:ext>
            </a:extLst>
          </p:cNvPr>
          <p:cNvSpPr>
            <a:spLocks noGrp="1"/>
          </p:cNvSpPr>
          <p:nvPr/>
        </p:nvSpPr>
        <p:spPr>
          <a:xfrm>
            <a:off x="7353300" y="0"/>
            <a:ext cx="4838700" cy="6858000"/>
          </a:xfrm>
          <a:prstGeom prst="rect">
            <a:avLst/>
          </a:prstGeom>
          <a:solidFill>
            <a:srgbClr val="E7F6F3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cover-purple-strip">
            <a:extLst>
              <a:ext uri="{FF2B5EF4-FFF2-40B4-BE49-F238E27FC236}">
                <a16:creationId xmlns:a16="http://schemas.microsoft.com/office/drawing/2014/main" id="{B55F5ECD-32CF-4713-B038-B009AEA4AA4C}"/>
              </a:ext>
            </a:extLst>
          </p:cNvPr>
          <p:cNvSpPr>
            <a:spLocks noGrp="1"/>
          </p:cNvSpPr>
          <p:nvPr/>
        </p:nvSpPr>
        <p:spPr>
          <a:xfrm>
            <a:off x="7353300" y="0"/>
            <a:ext cx="190500" cy="6858000"/>
          </a:xfrm>
          <a:prstGeom prst="rect">
            <a:avLst/>
          </a:prstGeom>
          <a:solidFill>
            <a:srgbClr val="7C2BC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382" y="381000"/>
            <a:ext cx="3520786" cy="1019175"/>
          </a:xfrm>
          <a:prstGeom prst="rect">
            <a:avLst/>
          </a:prstGeom>
        </p:spPr>
      </p:pic>
      <p:sp>
        <p:nvSpPr>
          <p:cNvPr id="4" name="cover-title">
            <a:extLst>
              <a:ext uri="{FF2B5EF4-FFF2-40B4-BE49-F238E27FC236}">
                <a16:creationId xmlns:a16="http://schemas.microsoft.com/office/drawing/2014/main" id="{0842239D-2FCB-40B5-AD5C-5630EE97D46D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6191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0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A smarter learning partnership for your students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D5C170C0-AD2F-4D8F-BA28-ECB5E5D47DFB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57531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Quiks helps schools extend structured practice, revision and teacher-guided learning beyond the classroom.</a:t>
            </a:r>
          </a:p>
        </p:txBody>
      </p:sp>
      <p:sp>
        <p:nvSpPr>
          <p:cNvPr id="6" name="cover-school">
            <a:extLst>
              <a:ext uri="{FF2B5EF4-FFF2-40B4-BE49-F238E27FC236}">
                <a16:creationId xmlns:a16="http://schemas.microsoft.com/office/drawing/2014/main" id="{372E944C-4995-4309-A23E-BEA15DFB0F1E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PROPOSAL TO [SCHOOL NAME]</a:t>
            </a:r>
          </a:p>
        </p:txBody>
      </p:sp>
      <p:sp>
        <p:nvSpPr>
          <p:cNvPr id="7" name="cover-tagline">
            <a:extLst>
              <a:ext uri="{FF2B5EF4-FFF2-40B4-BE49-F238E27FC236}">
                <a16:creationId xmlns:a16="http://schemas.microsoft.com/office/drawing/2014/main" id="{1B9610BB-C72C-4094-A199-A570B1168E3A}"/>
              </a:ext>
            </a:extLst>
          </p:cNvPr>
          <p:cNvSpPr>
            <a:spLocks noGrp="1"/>
          </p:cNvSpPr>
          <p:nvPr/>
        </p:nvSpPr>
        <p:spPr>
          <a:xfrm>
            <a:off x="7886700" y="5105400"/>
            <a:ext cx="3667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0F2130"/>
                </a:solidFill>
                <a:latin typeface="Arial"/>
                <a:ea typeface="Arial"/>
                <a:cs typeface="Arial"/>
              </a:rPr>
              <a:t>QUIKS  |  LEARN FAST. GROW STEADILY.</a:t>
            </a:r>
          </a:p>
        </p:txBody>
      </p:sp>
      <p:sp>
        <p:nvSpPr>
          <p:cNvPr id="8" name="cover-prepared">
            <a:extLst>
              <a:ext uri="{FF2B5EF4-FFF2-40B4-BE49-F238E27FC236}">
                <a16:creationId xmlns:a16="http://schemas.microsoft.com/office/drawing/2014/main" id="{8573EF90-BC59-446F-A0C5-1D9A792A4042}"/>
              </a:ext>
            </a:extLst>
          </p:cNvPr>
          <p:cNvSpPr>
            <a:spLocks noGrp="1"/>
          </p:cNvSpPr>
          <p:nvPr/>
        </p:nvSpPr>
        <p:spPr>
          <a:xfrm>
            <a:off x="7886700" y="57721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Prepared by Tech Solution Providers Ltd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84ABB7-B0CB-EEBE-A9C7-0D66456D1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410654"/>
            <a:ext cx="1895928" cy="15610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9B59FB-60EB-0F6D-39D0-4C0F9AE84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0" y="2715335"/>
            <a:ext cx="1895929" cy="156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02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2">
            <a:extLst>
              <a:ext uri="{FF2B5EF4-FFF2-40B4-BE49-F238E27FC236}">
                <a16:creationId xmlns:a16="http://schemas.microsoft.com/office/drawing/2014/main" id="{227A3E2D-2061-4B66-A325-D37EB0BB6F1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THE OPPORTUNITY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8B7D14D8-1F54-4A57-B211-98C692025CB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Learning should continue after the lesson ends</a:t>
            </a: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D8B70E82-1DEE-4C99-A399-5547684D37B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why-lead">
            <a:extLst>
              <a:ext uri="{FF2B5EF4-FFF2-40B4-BE49-F238E27FC236}">
                <a16:creationId xmlns:a16="http://schemas.microsoft.com/office/drawing/2014/main" id="{B9234B91-6A08-4E8B-8537-D4064131AB4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7048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A school builds excellence when students have the structure and motivation to keep learning between lessons.</a:t>
            </a:r>
          </a:p>
        </p:txBody>
      </p:sp>
      <p:sp>
        <p:nvSpPr>
          <p:cNvPr id="5" name="rule-64-320">
            <a:extLst>
              <a:ext uri="{FF2B5EF4-FFF2-40B4-BE49-F238E27FC236}">
                <a16:creationId xmlns:a16="http://schemas.microsoft.com/office/drawing/2014/main" id="{C7EEECD4-31C7-4055-B2DA-DB01B66DAC5D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6858000" cy="38100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why-1-marker">
            <a:extLst>
              <a:ext uri="{FF2B5EF4-FFF2-40B4-BE49-F238E27FC236}">
                <a16:creationId xmlns:a16="http://schemas.microsoft.com/office/drawing/2014/main" id="{C1F68C60-32AB-4B1A-B7E2-7411C66297EE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95250" cy="95250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why-1-title">
            <a:extLst>
              <a:ext uri="{FF2B5EF4-FFF2-40B4-BE49-F238E27FC236}">
                <a16:creationId xmlns:a16="http://schemas.microsoft.com/office/drawing/2014/main" id="{94E7F71B-4531-495A-B98F-6E06C47D2148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642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8" name="why-1-body">
            <a:extLst>
              <a:ext uri="{FF2B5EF4-FFF2-40B4-BE49-F238E27FC236}">
                <a16:creationId xmlns:a16="http://schemas.microsoft.com/office/drawing/2014/main" id="{528B140B-38FC-49AC-9185-61BF82B2AF4B}"/>
              </a:ext>
            </a:extLst>
          </p:cNvPr>
          <p:cNvSpPr>
            <a:spLocks noGrp="1"/>
          </p:cNvSpPr>
          <p:nvPr/>
        </p:nvSpPr>
        <p:spPr>
          <a:xfrm>
            <a:off x="847725" y="3705225"/>
            <a:ext cx="642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Teacher-led learning can carry from the classroom into homework, revision and independent study.</a:t>
            </a:r>
          </a:p>
        </p:txBody>
      </p:sp>
      <p:sp>
        <p:nvSpPr>
          <p:cNvPr id="9" name="why-2-marker">
            <a:extLst>
              <a:ext uri="{FF2B5EF4-FFF2-40B4-BE49-F238E27FC236}">
                <a16:creationId xmlns:a16="http://schemas.microsoft.com/office/drawing/2014/main" id="{C3873D8B-237E-4408-92E3-5999DB56648B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95250" cy="95250"/>
          </a:xfrm>
          <a:prstGeom prst="rect">
            <a:avLst/>
          </a:prstGeom>
          <a:solidFill>
            <a:srgbClr val="7C2BC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why-2-title">
            <a:extLst>
              <a:ext uri="{FF2B5EF4-FFF2-40B4-BE49-F238E27FC236}">
                <a16:creationId xmlns:a16="http://schemas.microsoft.com/office/drawing/2014/main" id="{A14DAEE6-2169-46DB-8F96-92C844ED61C0}"/>
              </a:ext>
            </a:extLst>
          </p:cNvPr>
          <p:cNvSpPr>
            <a:spLocks noGrp="1"/>
          </p:cNvSpPr>
          <p:nvPr/>
        </p:nvSpPr>
        <p:spPr>
          <a:xfrm>
            <a:off x="847725" y="4400550"/>
            <a:ext cx="642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1" name="why-2-body">
            <a:extLst>
              <a:ext uri="{FF2B5EF4-FFF2-40B4-BE49-F238E27FC236}">
                <a16:creationId xmlns:a16="http://schemas.microsoft.com/office/drawing/2014/main" id="{D0D8FBD1-0365-499C-8031-A4BAC778414E}"/>
              </a:ext>
            </a:extLst>
          </p:cNvPr>
          <p:cNvSpPr>
            <a:spLocks noGrp="1"/>
          </p:cNvSpPr>
          <p:nvPr/>
        </p:nvSpPr>
        <p:spPr>
          <a:xfrm>
            <a:off x="847725" y="4695825"/>
            <a:ext cx="642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Regular, guided practice helps learners confront difficult topics and build stronger study habits.</a:t>
            </a:r>
          </a:p>
        </p:txBody>
      </p:sp>
      <p:sp>
        <p:nvSpPr>
          <p:cNvPr id="12" name="why-3-marker">
            <a:extLst>
              <a:ext uri="{FF2B5EF4-FFF2-40B4-BE49-F238E27FC236}">
                <a16:creationId xmlns:a16="http://schemas.microsoft.com/office/drawing/2014/main" id="{A363B167-AC0F-49DD-9D95-D7D4BEC60BFE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95250" cy="95250"/>
          </a:xfrm>
          <a:prstGeom prst="rect">
            <a:avLst/>
          </a:prstGeom>
          <a:solidFill>
            <a:srgbClr val="E3A62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why-3-title">
            <a:extLst>
              <a:ext uri="{FF2B5EF4-FFF2-40B4-BE49-F238E27FC236}">
                <a16:creationId xmlns:a16="http://schemas.microsoft.com/office/drawing/2014/main" id="{63017FC7-D490-47D8-B909-6006EC4DEDDD}"/>
              </a:ext>
            </a:extLst>
          </p:cNvPr>
          <p:cNvSpPr>
            <a:spLocks noGrp="1"/>
          </p:cNvSpPr>
          <p:nvPr/>
        </p:nvSpPr>
        <p:spPr>
          <a:xfrm>
            <a:off x="847725" y="5391150"/>
            <a:ext cx="642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School-wide value</a:t>
            </a:r>
          </a:p>
        </p:txBody>
      </p:sp>
      <p:sp>
        <p:nvSpPr>
          <p:cNvPr id="14" name="why-3-body">
            <a:extLst>
              <a:ext uri="{FF2B5EF4-FFF2-40B4-BE49-F238E27FC236}">
                <a16:creationId xmlns:a16="http://schemas.microsoft.com/office/drawing/2014/main" id="{815A8349-F3D0-4C92-90E7-B71BA2112B9B}"/>
              </a:ext>
            </a:extLst>
          </p:cNvPr>
          <p:cNvSpPr>
            <a:spLocks noGrp="1"/>
          </p:cNvSpPr>
          <p:nvPr/>
        </p:nvSpPr>
        <p:spPr>
          <a:xfrm>
            <a:off x="847725" y="5686425"/>
            <a:ext cx="642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Students progress, teachers strengthen digital practice, and parents gain a more purposeful learning option at home.</a:t>
            </a:r>
          </a:p>
        </p:txBody>
      </p:sp>
      <p:sp>
        <p:nvSpPr>
          <p:cNvPr id="15" name="why-side-panel">
            <a:extLst>
              <a:ext uri="{FF2B5EF4-FFF2-40B4-BE49-F238E27FC236}">
                <a16:creationId xmlns:a16="http://schemas.microsoft.com/office/drawing/2014/main" id="{8990385B-53C6-4E14-ADF9-FCF9130388EF}"/>
              </a:ext>
            </a:extLst>
          </p:cNvPr>
          <p:cNvSpPr>
            <a:spLocks noGrp="1"/>
          </p:cNvSpPr>
          <p:nvPr/>
        </p:nvSpPr>
        <p:spPr>
          <a:xfrm>
            <a:off x="8229600" y="1695450"/>
            <a:ext cx="3352800" cy="4095750"/>
          </a:xfrm>
          <a:prstGeom prst="rect">
            <a:avLst/>
          </a:prstGeom>
          <a:solidFill>
            <a:srgbClr val="0F2130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why-side-quote">
            <a:extLst>
              <a:ext uri="{FF2B5EF4-FFF2-40B4-BE49-F238E27FC236}">
                <a16:creationId xmlns:a16="http://schemas.microsoft.com/office/drawing/2014/main" id="{347714E6-AEC7-4F72-99D2-0C69546A4A4D}"/>
              </a:ext>
            </a:extLst>
          </p:cNvPr>
          <p:cNvSpPr>
            <a:spLocks noGrp="1"/>
          </p:cNvSpPr>
          <p:nvPr/>
        </p:nvSpPr>
        <p:spPr>
          <a:xfrm>
            <a:off x="8648700" y="2238375"/>
            <a:ext cx="25241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42"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Quiks is designed to complement good teaching—not replace it.</a:t>
            </a:r>
          </a:p>
        </p:txBody>
      </p:sp>
      <p:sp>
        <p:nvSpPr>
          <p:cNvPr id="17" name="why-side-body">
            <a:extLst>
              <a:ext uri="{FF2B5EF4-FFF2-40B4-BE49-F238E27FC236}">
                <a16:creationId xmlns:a16="http://schemas.microsoft.com/office/drawing/2014/main" id="{CDD175B0-4DEC-4CB7-85C9-EE970273B6BA}"/>
              </a:ext>
            </a:extLst>
          </p:cNvPr>
          <p:cNvSpPr>
            <a:spLocks noGrp="1"/>
          </p:cNvSpPr>
          <p:nvPr/>
        </p:nvSpPr>
        <p:spPr>
          <a:xfrm>
            <a:off x="8648700" y="4143375"/>
            <a:ext cx="252412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DDE8E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8EE"/>
                </a:solidFill>
                <a:latin typeface="Arial"/>
                <a:ea typeface="Arial"/>
                <a:cs typeface="Arial"/>
              </a:rPr>
              <a:t>It gives students a guided route to practise, understand and progress while keeping teachers central to the learning process.</a:t>
            </a:r>
          </a:p>
        </p:txBody>
      </p:sp>
    </p:spTree>
    <p:extLst>
      <p:ext uri="{BB962C8B-B14F-4D97-AF65-F5344CB8AC3E}">
        <p14:creationId xmlns:p14="http://schemas.microsoft.com/office/powerpoint/2010/main" val="127649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3">
            <a:extLst>
              <a:ext uri="{FF2B5EF4-FFF2-40B4-BE49-F238E27FC236}">
                <a16:creationId xmlns:a16="http://schemas.microsoft.com/office/drawing/2014/main" id="{E0A5B962-F85E-4D14-ACEE-F94BB447CAB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CFCCFEA1-04C5-4524-A278-77A03A2DC5B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Quiks turns independent study into a guided learning loop</a:t>
            </a:r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FCF41B6B-D251-4B8F-BAD1-4EA6C3C6FC1D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ule-120-276">
            <a:extLst>
              <a:ext uri="{FF2B5EF4-FFF2-40B4-BE49-F238E27FC236}">
                <a16:creationId xmlns:a16="http://schemas.microsoft.com/office/drawing/2014/main" id="{064C3575-1EF7-40C9-9F32-506B77D6FB1D}"/>
              </a:ext>
            </a:extLst>
          </p:cNvPr>
          <p:cNvSpPr>
            <a:spLocks noGrp="1"/>
          </p:cNvSpPr>
          <p:nvPr/>
        </p:nvSpPr>
        <p:spPr>
          <a:xfrm>
            <a:off x="1143000" y="2628900"/>
            <a:ext cx="9906000" cy="19050"/>
          </a:xfrm>
          <a:prstGeom prst="rect">
            <a:avLst/>
          </a:prstGeom>
          <a:solidFill>
            <a:srgbClr val="CCD3D9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tep-1-number">
            <a:extLst>
              <a:ext uri="{FF2B5EF4-FFF2-40B4-BE49-F238E27FC236}">
                <a16:creationId xmlns:a16="http://schemas.microsoft.com/office/drawing/2014/main" id="{106A7309-EF4B-4519-B94F-05174274A7EA}"/>
              </a:ext>
            </a:extLst>
          </p:cNvPr>
          <p:cNvSpPr>
            <a:spLocks noGrp="1"/>
          </p:cNvSpPr>
          <p:nvPr/>
        </p:nvSpPr>
        <p:spPr>
          <a:xfrm>
            <a:off x="838200" y="2362200"/>
            <a:ext cx="514350" cy="514350"/>
          </a:xfrm>
          <a:prstGeom prst="ellipse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tep-1-number-text">
            <a:extLst>
              <a:ext uri="{FF2B5EF4-FFF2-40B4-BE49-F238E27FC236}">
                <a16:creationId xmlns:a16="http://schemas.microsoft.com/office/drawing/2014/main" id="{60E641DB-D7BB-437B-9570-A41EB0115D26}"/>
              </a:ext>
            </a:extLst>
          </p:cNvPr>
          <p:cNvSpPr>
            <a:spLocks noGrp="1"/>
          </p:cNvSpPr>
          <p:nvPr/>
        </p:nvSpPr>
        <p:spPr>
          <a:xfrm>
            <a:off x="838200" y="24288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tep-1-title">
            <a:extLst>
              <a:ext uri="{FF2B5EF4-FFF2-40B4-BE49-F238E27FC236}">
                <a16:creationId xmlns:a16="http://schemas.microsoft.com/office/drawing/2014/main" id="{2740D115-AED2-4948-AD6F-935A6044A343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Choose the focus</a:t>
            </a:r>
          </a:p>
        </p:txBody>
      </p:sp>
      <p:sp>
        <p:nvSpPr>
          <p:cNvPr id="8" name="step-1-body">
            <a:extLst>
              <a:ext uri="{FF2B5EF4-FFF2-40B4-BE49-F238E27FC236}">
                <a16:creationId xmlns:a16="http://schemas.microsoft.com/office/drawing/2014/main" id="{98C15AC3-30CF-4B97-8EB7-183EDFBB3450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Select subject, topic, class, curriculum or target examination.</a:t>
            </a:r>
          </a:p>
        </p:txBody>
      </p:sp>
      <p:sp>
        <p:nvSpPr>
          <p:cNvPr id="9" name="step-2-number">
            <a:extLst>
              <a:ext uri="{FF2B5EF4-FFF2-40B4-BE49-F238E27FC236}">
                <a16:creationId xmlns:a16="http://schemas.microsoft.com/office/drawing/2014/main" id="{CFBAAD70-F4A6-4D35-9F3E-D4557FABA2FD}"/>
              </a:ext>
            </a:extLst>
          </p:cNvPr>
          <p:cNvSpPr>
            <a:spLocks noGrp="1"/>
          </p:cNvSpPr>
          <p:nvPr/>
        </p:nvSpPr>
        <p:spPr>
          <a:xfrm>
            <a:off x="3695700" y="2362200"/>
            <a:ext cx="514350" cy="514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tep-2-number-text">
            <a:extLst>
              <a:ext uri="{FF2B5EF4-FFF2-40B4-BE49-F238E27FC236}">
                <a16:creationId xmlns:a16="http://schemas.microsoft.com/office/drawing/2014/main" id="{39C7D75D-41A2-4078-8951-F87D22E48A81}"/>
              </a:ext>
            </a:extLst>
          </p:cNvPr>
          <p:cNvSpPr>
            <a:spLocks noGrp="1"/>
          </p:cNvSpPr>
          <p:nvPr/>
        </p:nvSpPr>
        <p:spPr>
          <a:xfrm>
            <a:off x="3695700" y="24288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ep-2-title">
            <a:extLst>
              <a:ext uri="{FF2B5EF4-FFF2-40B4-BE49-F238E27FC236}">
                <a16:creationId xmlns:a16="http://schemas.microsoft.com/office/drawing/2014/main" id="{D40D71DA-50B2-4FFE-B9DE-22459416B7AD}"/>
              </a:ext>
            </a:extLst>
          </p:cNvPr>
          <p:cNvSpPr>
            <a:spLocks noGrp="1"/>
          </p:cNvSpPr>
          <p:nvPr/>
        </p:nvSpPr>
        <p:spPr>
          <a:xfrm>
            <a:off x="3695700" y="30861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12" name="step-2-body">
            <a:extLst>
              <a:ext uri="{FF2B5EF4-FFF2-40B4-BE49-F238E27FC236}">
                <a16:creationId xmlns:a16="http://schemas.microsoft.com/office/drawing/2014/main" id="{21288B73-5A86-4E70-9242-CCC2100C1BF0}"/>
              </a:ext>
            </a:extLst>
          </p:cNvPr>
          <p:cNvSpPr>
            <a:spLocks noGrp="1"/>
          </p:cNvSpPr>
          <p:nvPr/>
        </p:nvSpPr>
        <p:spPr>
          <a:xfrm>
            <a:off x="3695700" y="346710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Complete relevant questions in training, revision or challenge modes.</a:t>
            </a:r>
          </a:p>
        </p:txBody>
      </p:sp>
      <p:sp>
        <p:nvSpPr>
          <p:cNvPr id="13" name="step-3-number">
            <a:extLst>
              <a:ext uri="{FF2B5EF4-FFF2-40B4-BE49-F238E27FC236}">
                <a16:creationId xmlns:a16="http://schemas.microsoft.com/office/drawing/2014/main" id="{78D3A1EC-AD22-426D-841F-F9E4F826A88D}"/>
              </a:ext>
            </a:extLst>
          </p:cNvPr>
          <p:cNvSpPr>
            <a:spLocks noGrp="1"/>
          </p:cNvSpPr>
          <p:nvPr/>
        </p:nvSpPr>
        <p:spPr>
          <a:xfrm>
            <a:off x="6553200" y="2362200"/>
            <a:ext cx="514350" cy="514350"/>
          </a:xfrm>
          <a:prstGeom prst="ellipse">
            <a:avLst/>
          </a:prstGeom>
          <a:solidFill>
            <a:srgbClr val="7C2BC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tep-3-number-text">
            <a:extLst>
              <a:ext uri="{FF2B5EF4-FFF2-40B4-BE49-F238E27FC236}">
                <a16:creationId xmlns:a16="http://schemas.microsoft.com/office/drawing/2014/main" id="{E7550C46-E15B-4287-BA66-12454ED9D6C7}"/>
              </a:ext>
            </a:extLst>
          </p:cNvPr>
          <p:cNvSpPr>
            <a:spLocks noGrp="1"/>
          </p:cNvSpPr>
          <p:nvPr/>
        </p:nvSpPr>
        <p:spPr>
          <a:xfrm>
            <a:off x="6553200" y="24288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step-3-title">
            <a:extLst>
              <a:ext uri="{FF2B5EF4-FFF2-40B4-BE49-F238E27FC236}">
                <a16:creationId xmlns:a16="http://schemas.microsoft.com/office/drawing/2014/main" id="{B834BAF2-BDD1-413F-B1B8-DD6A92323E71}"/>
              </a:ext>
            </a:extLst>
          </p:cNvPr>
          <p:cNvSpPr>
            <a:spLocks noGrp="1"/>
          </p:cNvSpPr>
          <p:nvPr/>
        </p:nvSpPr>
        <p:spPr>
          <a:xfrm>
            <a:off x="6553200" y="30861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6" name="step-3-body">
            <a:extLst>
              <a:ext uri="{FF2B5EF4-FFF2-40B4-BE49-F238E27FC236}">
                <a16:creationId xmlns:a16="http://schemas.microsoft.com/office/drawing/2014/main" id="{8A5FB133-A76C-492A-BDE0-F8944B6BC3D9}"/>
              </a:ext>
            </a:extLst>
          </p:cNvPr>
          <p:cNvSpPr>
            <a:spLocks noGrp="1"/>
          </p:cNvSpPr>
          <p:nvPr/>
        </p:nvSpPr>
        <p:spPr>
          <a:xfrm>
            <a:off x="6553200" y="346710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Use explanations and Learn More to close knowledge gaps.</a:t>
            </a:r>
          </a:p>
        </p:txBody>
      </p:sp>
      <p:sp>
        <p:nvSpPr>
          <p:cNvPr id="17" name="step-4-number">
            <a:extLst>
              <a:ext uri="{FF2B5EF4-FFF2-40B4-BE49-F238E27FC236}">
                <a16:creationId xmlns:a16="http://schemas.microsoft.com/office/drawing/2014/main" id="{E814F55E-C408-4AED-B7F4-FA8D878BE11B}"/>
              </a:ext>
            </a:extLst>
          </p:cNvPr>
          <p:cNvSpPr>
            <a:spLocks noGrp="1"/>
          </p:cNvSpPr>
          <p:nvPr/>
        </p:nvSpPr>
        <p:spPr>
          <a:xfrm>
            <a:off x="9410700" y="2362200"/>
            <a:ext cx="514350" cy="514350"/>
          </a:xfrm>
          <a:prstGeom prst="ellipse">
            <a:avLst/>
          </a:prstGeom>
          <a:solidFill>
            <a:srgbClr val="E3A62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tep-4-number-text">
            <a:extLst>
              <a:ext uri="{FF2B5EF4-FFF2-40B4-BE49-F238E27FC236}">
                <a16:creationId xmlns:a16="http://schemas.microsoft.com/office/drawing/2014/main" id="{1D253BD8-1CC9-460E-AB04-1DDC3AD67240}"/>
              </a:ext>
            </a:extLst>
          </p:cNvPr>
          <p:cNvSpPr>
            <a:spLocks noGrp="1"/>
          </p:cNvSpPr>
          <p:nvPr/>
        </p:nvSpPr>
        <p:spPr>
          <a:xfrm>
            <a:off x="9410700" y="24288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step-4-title">
            <a:extLst>
              <a:ext uri="{FF2B5EF4-FFF2-40B4-BE49-F238E27FC236}">
                <a16:creationId xmlns:a16="http://schemas.microsoft.com/office/drawing/2014/main" id="{CD69EE81-1249-4B4A-8CAC-5F92D6B38C02}"/>
              </a:ext>
            </a:extLst>
          </p:cNvPr>
          <p:cNvSpPr>
            <a:spLocks noGrp="1"/>
          </p:cNvSpPr>
          <p:nvPr/>
        </p:nvSpPr>
        <p:spPr>
          <a:xfrm>
            <a:off x="9410700" y="30861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  <p:sp>
        <p:nvSpPr>
          <p:cNvPr id="20" name="step-4-body">
            <a:extLst>
              <a:ext uri="{FF2B5EF4-FFF2-40B4-BE49-F238E27FC236}">
                <a16:creationId xmlns:a16="http://schemas.microsoft.com/office/drawing/2014/main" id="{4D623F6C-368F-449B-AA45-D4D5CD7A83FF}"/>
              </a:ext>
            </a:extLst>
          </p:cNvPr>
          <p:cNvSpPr>
            <a:spLocks noGrp="1"/>
          </p:cNvSpPr>
          <p:nvPr/>
        </p:nvSpPr>
        <p:spPr>
          <a:xfrm>
            <a:off x="9410700" y="346710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Advance through levels, track activity and earn certificates.</a:t>
            </a:r>
          </a:p>
        </p:txBody>
      </p:sp>
      <p:sp>
        <p:nvSpPr>
          <p:cNvPr id="21" name="loop-bottom">
            <a:extLst>
              <a:ext uri="{FF2B5EF4-FFF2-40B4-BE49-F238E27FC236}">
                <a16:creationId xmlns:a16="http://schemas.microsoft.com/office/drawing/2014/main" id="{44B4BDC7-4609-461F-BEEA-12CDCCB4968F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723900"/>
          </a:xfrm>
          <a:prstGeom prst="rect">
            <a:avLst/>
          </a:prstGeom>
          <a:solidFill>
            <a:srgbClr val="E7F6F3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loop-bottom-text">
            <a:extLst>
              <a:ext uri="{FF2B5EF4-FFF2-40B4-BE49-F238E27FC236}">
                <a16:creationId xmlns:a16="http://schemas.microsoft.com/office/drawing/2014/main" id="{690B97B8-2531-4177-A650-4E157DD52FE5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1036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742" lnSpcReduction="10000"/>
          </a:bodyPr>
          <a:lstStyle/>
          <a:p>
            <a:pPr algn="ctr">
              <a:defRPr sz="13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Available on mobile and web, with signed-in learner profiles designed to preserve continuity across devices within each Quiks variant.</a:t>
            </a:r>
          </a:p>
        </p:txBody>
      </p:sp>
    </p:spTree>
    <p:extLst>
      <p:ext uri="{BB962C8B-B14F-4D97-AF65-F5344CB8AC3E}">
        <p14:creationId xmlns:p14="http://schemas.microsoft.com/office/powerpoint/2010/main" val="4351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4">
            <a:extLst>
              <a:ext uri="{FF2B5EF4-FFF2-40B4-BE49-F238E27FC236}">
                <a16:creationId xmlns:a16="http://schemas.microsoft.com/office/drawing/2014/main" id="{89A044FE-996C-4297-8A25-4F3C671B0A8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19CEB074-3436-4313-99C2-DBEC5D32FDC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Students get more than questions—they get a pathway</a:t>
            </a:r>
          </a:p>
        </p:txBody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9909F4E9-93FE-4B62-B6C3-17FB9D5B408A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student-panel-0">
            <a:extLst>
              <a:ext uri="{FF2B5EF4-FFF2-40B4-BE49-F238E27FC236}">
                <a16:creationId xmlns:a16="http://schemas.microsoft.com/office/drawing/2014/main" id="{C96EF4BE-1801-4864-A9A8-C00009AE7253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352800" cy="3905250"/>
          </a:xfrm>
          <a:prstGeom prst="rect">
            <a:avLst/>
          </a:prstGeom>
          <a:solidFill>
            <a:srgbClr val="E7F6F3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tudent-bar-0">
            <a:extLst>
              <a:ext uri="{FF2B5EF4-FFF2-40B4-BE49-F238E27FC236}">
                <a16:creationId xmlns:a16="http://schemas.microsoft.com/office/drawing/2014/main" id="{DB8E6059-4BCA-4238-A136-7F37EB798745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352800" cy="114300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tudent-label-0">
            <a:extLst>
              <a:ext uri="{FF2B5EF4-FFF2-40B4-BE49-F238E27FC236}">
                <a16:creationId xmlns:a16="http://schemas.microsoft.com/office/drawing/2014/main" id="{1C7952EE-83CE-4EE7-A6C7-83836F4951DC}"/>
              </a:ext>
            </a:extLst>
          </p:cNvPr>
          <p:cNvSpPr>
            <a:spLocks noGrp="1"/>
          </p:cNvSpPr>
          <p:nvPr/>
        </p:nvSpPr>
        <p:spPr>
          <a:xfrm>
            <a:off x="895350" y="232410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7" name="student-body-0">
            <a:extLst>
              <a:ext uri="{FF2B5EF4-FFF2-40B4-BE49-F238E27FC236}">
                <a16:creationId xmlns:a16="http://schemas.microsoft.com/office/drawing/2014/main" id="{C4258C2F-DD98-4602-855E-CDF8DA1407C8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2781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Curriculum- and exam-aware questions support focused revision and regular independent study.</a:t>
            </a:r>
          </a:p>
        </p:txBody>
      </p:sp>
      <p:sp>
        <p:nvSpPr>
          <p:cNvPr id="8" name="student-panel-1">
            <a:extLst>
              <a:ext uri="{FF2B5EF4-FFF2-40B4-BE49-F238E27FC236}">
                <a16:creationId xmlns:a16="http://schemas.microsoft.com/office/drawing/2014/main" id="{6196E70C-8547-4406-B550-94664B99511F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52800" cy="39052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tudent-bar-1">
            <a:extLst>
              <a:ext uri="{FF2B5EF4-FFF2-40B4-BE49-F238E27FC236}">
                <a16:creationId xmlns:a16="http://schemas.microsoft.com/office/drawing/2014/main" id="{93C217CD-404C-40A9-B31E-1FFA1E382435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52800" cy="114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tudent-label-1">
            <a:extLst>
              <a:ext uri="{FF2B5EF4-FFF2-40B4-BE49-F238E27FC236}">
                <a16:creationId xmlns:a16="http://schemas.microsoft.com/office/drawing/2014/main" id="{F4C95C26-9597-47A7-B602-D0F383F94B3B}"/>
              </a:ext>
            </a:extLst>
          </p:cNvPr>
          <p:cNvSpPr>
            <a:spLocks noGrp="1"/>
          </p:cNvSpPr>
          <p:nvPr/>
        </p:nvSpPr>
        <p:spPr>
          <a:xfrm>
            <a:off x="4629150" y="232410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1" name="student-body-1">
            <a:extLst>
              <a:ext uri="{FF2B5EF4-FFF2-40B4-BE49-F238E27FC236}">
                <a16:creationId xmlns:a16="http://schemas.microsoft.com/office/drawing/2014/main" id="{05FEC2AA-3FE4-48F9-9462-F46F8FD494BC}"/>
              </a:ext>
            </a:extLst>
          </p:cNvPr>
          <p:cNvSpPr>
            <a:spLocks noGrp="1"/>
          </p:cNvSpPr>
          <p:nvPr/>
        </p:nvSpPr>
        <p:spPr>
          <a:xfrm>
            <a:off x="4629150" y="2924175"/>
            <a:ext cx="2781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Answer explanations, Learn More and the Learning Hub turn mistakes into opportunities to learn.</a:t>
            </a:r>
          </a:p>
        </p:txBody>
      </p:sp>
      <p:sp>
        <p:nvSpPr>
          <p:cNvPr id="12" name="student-panel-2">
            <a:extLst>
              <a:ext uri="{FF2B5EF4-FFF2-40B4-BE49-F238E27FC236}">
                <a16:creationId xmlns:a16="http://schemas.microsoft.com/office/drawing/2014/main" id="{62A6065D-C39D-4EB1-A756-75A50872B2A3}"/>
              </a:ext>
            </a:extLst>
          </p:cNvPr>
          <p:cNvSpPr>
            <a:spLocks noGrp="1"/>
          </p:cNvSpPr>
          <p:nvPr/>
        </p:nvSpPr>
        <p:spPr>
          <a:xfrm>
            <a:off x="8077200" y="1866900"/>
            <a:ext cx="3352800" cy="3905250"/>
          </a:xfrm>
          <a:prstGeom prst="rect">
            <a:avLst/>
          </a:prstGeom>
          <a:solidFill>
            <a:srgbClr val="F4EAFB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tudent-bar-2">
            <a:extLst>
              <a:ext uri="{FF2B5EF4-FFF2-40B4-BE49-F238E27FC236}">
                <a16:creationId xmlns:a16="http://schemas.microsoft.com/office/drawing/2014/main" id="{1DF90DCD-1F5A-4F63-BD24-1D90129DD0B9}"/>
              </a:ext>
            </a:extLst>
          </p:cNvPr>
          <p:cNvSpPr>
            <a:spLocks noGrp="1"/>
          </p:cNvSpPr>
          <p:nvPr/>
        </p:nvSpPr>
        <p:spPr>
          <a:xfrm>
            <a:off x="8077200" y="1866900"/>
            <a:ext cx="3352800" cy="114300"/>
          </a:xfrm>
          <a:prstGeom prst="rect">
            <a:avLst/>
          </a:prstGeom>
          <a:solidFill>
            <a:srgbClr val="7C2BC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tudent-label-2">
            <a:extLst>
              <a:ext uri="{FF2B5EF4-FFF2-40B4-BE49-F238E27FC236}">
                <a16:creationId xmlns:a16="http://schemas.microsoft.com/office/drawing/2014/main" id="{B84F0F30-F579-4470-8BFA-CC2541654CC8}"/>
              </a:ext>
            </a:extLst>
          </p:cNvPr>
          <p:cNvSpPr>
            <a:spLocks noGrp="1"/>
          </p:cNvSpPr>
          <p:nvPr/>
        </p:nvSpPr>
        <p:spPr>
          <a:xfrm>
            <a:off x="8362950" y="232410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7C2BC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C2BC4"/>
                </a:solidFill>
                <a:latin typeface="Arial"/>
                <a:ea typeface="Arial"/>
                <a:cs typeface="Arial"/>
              </a:rPr>
              <a:t>STAY MOTIVATED</a:t>
            </a:r>
          </a:p>
        </p:txBody>
      </p:sp>
      <p:sp>
        <p:nvSpPr>
          <p:cNvPr id="15" name="student-body-2">
            <a:extLst>
              <a:ext uri="{FF2B5EF4-FFF2-40B4-BE49-F238E27FC236}">
                <a16:creationId xmlns:a16="http://schemas.microsoft.com/office/drawing/2014/main" id="{2CB939AF-5C07-4AE3-940C-8A2ECAEB23CE}"/>
              </a:ext>
            </a:extLst>
          </p:cNvPr>
          <p:cNvSpPr>
            <a:spLocks noGrp="1"/>
          </p:cNvSpPr>
          <p:nvPr/>
        </p:nvSpPr>
        <p:spPr>
          <a:xfrm>
            <a:off x="8362950" y="2924175"/>
            <a:ext cx="27813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Levels, certificates, competitions and controlled Breathers reward persistence without losing academic focus.</a:t>
            </a:r>
          </a:p>
        </p:txBody>
      </p:sp>
    </p:spTree>
    <p:extLst>
      <p:ext uri="{BB962C8B-B14F-4D97-AF65-F5344CB8AC3E}">
        <p14:creationId xmlns:p14="http://schemas.microsoft.com/office/powerpoint/2010/main" val="74344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5">
            <a:extLst>
              <a:ext uri="{FF2B5EF4-FFF2-40B4-BE49-F238E27FC236}">
                <a16:creationId xmlns:a16="http://schemas.microsoft.com/office/drawing/2014/main" id="{562CE578-2464-4CA8-B7DF-7A19E46AD23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TEACHER VALUE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475117A1-2CA7-4DDA-A36B-8997D2A0F2D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Teachers gain a practical digital classroom</a:t>
            </a:r>
          </a:p>
        </p:txBody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BF0CBF6F-F03D-47C6-990A-D8CF8590BF5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acher-lead">
            <a:extLst>
              <a:ext uri="{FF2B5EF4-FFF2-40B4-BE49-F238E27FC236}">
                <a16:creationId xmlns:a16="http://schemas.microsoft.com/office/drawing/2014/main" id="{75936B56-355E-4839-8C7A-588D3CEA17C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Classroom tools help teachers organise learning beyond the physical classroom while retaining control of the academic focus.</a:t>
            </a:r>
          </a:p>
        </p:txBody>
      </p:sp>
      <p:sp>
        <p:nvSpPr>
          <p:cNvPr id="5" name="teacher-num-0">
            <a:extLst>
              <a:ext uri="{FF2B5EF4-FFF2-40B4-BE49-F238E27FC236}">
                <a16:creationId xmlns:a16="http://schemas.microsoft.com/office/drawing/2014/main" id="{1A5B5899-4008-434C-9081-38959F17728A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acher-title-0">
            <a:extLst>
              <a:ext uri="{FF2B5EF4-FFF2-40B4-BE49-F238E27FC236}">
                <a16:creationId xmlns:a16="http://schemas.microsoft.com/office/drawing/2014/main" id="{FF69AAAE-E4EB-4B73-A9FF-7CC00CB929D3}"/>
              </a:ext>
            </a:extLst>
          </p:cNvPr>
          <p:cNvSpPr>
            <a:spLocks noGrp="1"/>
          </p:cNvSpPr>
          <p:nvPr/>
        </p:nvSpPr>
        <p:spPr>
          <a:xfrm>
            <a:off x="1524000" y="26193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Create and organise classes</a:t>
            </a:r>
          </a:p>
        </p:txBody>
      </p:sp>
      <p:sp>
        <p:nvSpPr>
          <p:cNvPr id="7" name="teacher-body-0">
            <a:extLst>
              <a:ext uri="{FF2B5EF4-FFF2-40B4-BE49-F238E27FC236}">
                <a16:creationId xmlns:a16="http://schemas.microsoft.com/office/drawing/2014/main" id="{CB54D57B-216C-4B90-8EF7-0369D18DF314}"/>
              </a:ext>
            </a:extLst>
          </p:cNvPr>
          <p:cNvSpPr>
            <a:spLocks noGrp="1"/>
          </p:cNvSpPr>
          <p:nvPr/>
        </p:nvSpPr>
        <p:spPr>
          <a:xfrm>
            <a:off x="5857875" y="2619375"/>
            <a:ext cx="528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Set up a class around the students and learning objective.</a:t>
            </a:r>
          </a:p>
        </p:txBody>
      </p:sp>
      <p:sp>
        <p:nvSpPr>
          <p:cNvPr id="8" name="rule-160-339">
            <a:extLst>
              <a:ext uri="{FF2B5EF4-FFF2-40B4-BE49-F238E27FC236}">
                <a16:creationId xmlns:a16="http://schemas.microsoft.com/office/drawing/2014/main" id="{25E3563F-7FB3-4943-90AC-D2AC346C04D9}"/>
              </a:ext>
            </a:extLst>
          </p:cNvPr>
          <p:cNvSpPr>
            <a:spLocks noGrp="1"/>
          </p:cNvSpPr>
          <p:nvPr/>
        </p:nvSpPr>
        <p:spPr>
          <a:xfrm>
            <a:off x="1524000" y="3228975"/>
            <a:ext cx="9620250" cy="9525"/>
          </a:xfrm>
          <a:prstGeom prst="rect">
            <a:avLst/>
          </a:prstGeom>
          <a:solidFill>
            <a:srgbClr val="CCD3D9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acher-num-1">
            <a:extLst>
              <a:ext uri="{FF2B5EF4-FFF2-40B4-BE49-F238E27FC236}">
                <a16:creationId xmlns:a16="http://schemas.microsoft.com/office/drawing/2014/main" id="{05BC7B08-F64A-41BF-9B49-9A862FFE3046}"/>
              </a:ext>
            </a:extLst>
          </p:cNvPr>
          <p:cNvSpPr>
            <a:spLocks noGrp="1"/>
          </p:cNvSpPr>
          <p:nvPr/>
        </p:nvSpPr>
        <p:spPr>
          <a:xfrm>
            <a:off x="742950" y="343852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acher-title-1">
            <a:extLst>
              <a:ext uri="{FF2B5EF4-FFF2-40B4-BE49-F238E27FC236}">
                <a16:creationId xmlns:a16="http://schemas.microsoft.com/office/drawing/2014/main" id="{A37A6EF7-237C-4603-B8EF-492891F8BD16}"/>
              </a:ext>
            </a:extLst>
          </p:cNvPr>
          <p:cNvSpPr>
            <a:spLocks noGrp="1"/>
          </p:cNvSpPr>
          <p:nvPr/>
        </p:nvSpPr>
        <p:spPr>
          <a:xfrm>
            <a:off x="1524000" y="34385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Generate tests and assignments</a:t>
            </a:r>
          </a:p>
        </p:txBody>
      </p:sp>
      <p:sp>
        <p:nvSpPr>
          <p:cNvPr id="11" name="teacher-body-1">
            <a:extLst>
              <a:ext uri="{FF2B5EF4-FFF2-40B4-BE49-F238E27FC236}">
                <a16:creationId xmlns:a16="http://schemas.microsoft.com/office/drawing/2014/main" id="{2746DC1B-B8DD-4181-8783-B51BF6232659}"/>
              </a:ext>
            </a:extLst>
          </p:cNvPr>
          <p:cNvSpPr>
            <a:spLocks noGrp="1"/>
          </p:cNvSpPr>
          <p:nvPr/>
        </p:nvSpPr>
        <p:spPr>
          <a:xfrm>
            <a:off x="5857875" y="3438525"/>
            <a:ext cx="528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Choose the subject and topic, then create an activity for learners.</a:t>
            </a:r>
          </a:p>
        </p:txBody>
      </p:sp>
      <p:sp>
        <p:nvSpPr>
          <p:cNvPr id="12" name="rule-160-425">
            <a:extLst>
              <a:ext uri="{FF2B5EF4-FFF2-40B4-BE49-F238E27FC236}">
                <a16:creationId xmlns:a16="http://schemas.microsoft.com/office/drawing/2014/main" id="{74E75722-DD8D-41FC-9CF1-89B16D01D69A}"/>
              </a:ext>
            </a:extLst>
          </p:cNvPr>
          <p:cNvSpPr>
            <a:spLocks noGrp="1"/>
          </p:cNvSpPr>
          <p:nvPr/>
        </p:nvSpPr>
        <p:spPr>
          <a:xfrm>
            <a:off x="1524000" y="4048125"/>
            <a:ext cx="9620250" cy="9525"/>
          </a:xfrm>
          <a:prstGeom prst="rect">
            <a:avLst/>
          </a:prstGeom>
          <a:solidFill>
            <a:srgbClr val="CCD3D9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acher-num-2">
            <a:extLst>
              <a:ext uri="{FF2B5EF4-FFF2-40B4-BE49-F238E27FC236}">
                <a16:creationId xmlns:a16="http://schemas.microsoft.com/office/drawing/2014/main" id="{396D7617-6D01-464E-A332-FFC6E3BBA7FA}"/>
              </a:ext>
            </a:extLst>
          </p:cNvPr>
          <p:cNvSpPr>
            <a:spLocks noGrp="1"/>
          </p:cNvSpPr>
          <p:nvPr/>
        </p:nvSpPr>
        <p:spPr>
          <a:xfrm>
            <a:off x="742950" y="425767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acher-title-2">
            <a:extLst>
              <a:ext uri="{FF2B5EF4-FFF2-40B4-BE49-F238E27FC236}">
                <a16:creationId xmlns:a16="http://schemas.microsoft.com/office/drawing/2014/main" id="{3E1BBB62-DC28-4F84-89D3-9A13B7545651}"/>
              </a:ext>
            </a:extLst>
          </p:cNvPr>
          <p:cNvSpPr>
            <a:spLocks noGrp="1"/>
          </p:cNvSpPr>
          <p:nvPr/>
        </p:nvSpPr>
        <p:spPr>
          <a:xfrm>
            <a:off x="1524000" y="42576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Invite students securely</a:t>
            </a:r>
          </a:p>
        </p:txBody>
      </p:sp>
      <p:sp>
        <p:nvSpPr>
          <p:cNvPr id="15" name="teacher-body-2">
            <a:extLst>
              <a:ext uri="{FF2B5EF4-FFF2-40B4-BE49-F238E27FC236}">
                <a16:creationId xmlns:a16="http://schemas.microsoft.com/office/drawing/2014/main" id="{97F56244-3BA6-4043-85E4-7352E8660585}"/>
              </a:ext>
            </a:extLst>
          </p:cNvPr>
          <p:cNvSpPr>
            <a:spLocks noGrp="1"/>
          </p:cNvSpPr>
          <p:nvPr/>
        </p:nvSpPr>
        <p:spPr>
          <a:xfrm>
            <a:off x="5857875" y="4257675"/>
            <a:ext cx="528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Share a class code or invitation link for students to join.</a:t>
            </a:r>
          </a:p>
        </p:txBody>
      </p:sp>
      <p:sp>
        <p:nvSpPr>
          <p:cNvPr id="16" name="rule-160-511">
            <a:extLst>
              <a:ext uri="{FF2B5EF4-FFF2-40B4-BE49-F238E27FC236}">
                <a16:creationId xmlns:a16="http://schemas.microsoft.com/office/drawing/2014/main" id="{27C402CB-37E3-4B39-8D49-8098D2B2B7DD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620250" cy="9525"/>
          </a:xfrm>
          <a:prstGeom prst="rect">
            <a:avLst/>
          </a:prstGeom>
          <a:solidFill>
            <a:srgbClr val="CCD3D9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acher-num-3">
            <a:extLst>
              <a:ext uri="{FF2B5EF4-FFF2-40B4-BE49-F238E27FC236}">
                <a16:creationId xmlns:a16="http://schemas.microsoft.com/office/drawing/2014/main" id="{0D26585A-30D1-400A-8CC4-1FB436EE6D98}"/>
              </a:ext>
            </a:extLst>
          </p:cNvPr>
          <p:cNvSpPr>
            <a:spLocks noGrp="1"/>
          </p:cNvSpPr>
          <p:nvPr/>
        </p:nvSpPr>
        <p:spPr>
          <a:xfrm>
            <a:off x="742950" y="507682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teacher-title-3">
            <a:extLst>
              <a:ext uri="{FF2B5EF4-FFF2-40B4-BE49-F238E27FC236}">
                <a16:creationId xmlns:a16="http://schemas.microsoft.com/office/drawing/2014/main" id="{6C970268-F932-40AB-996D-70963D235FAA}"/>
              </a:ext>
            </a:extLst>
          </p:cNvPr>
          <p:cNvSpPr>
            <a:spLocks noGrp="1"/>
          </p:cNvSpPr>
          <p:nvPr/>
        </p:nvSpPr>
        <p:spPr>
          <a:xfrm>
            <a:off x="1524000" y="50768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Review participation and results</a:t>
            </a:r>
          </a:p>
        </p:txBody>
      </p:sp>
      <p:sp>
        <p:nvSpPr>
          <p:cNvPr id="19" name="teacher-body-3">
            <a:extLst>
              <a:ext uri="{FF2B5EF4-FFF2-40B4-BE49-F238E27FC236}">
                <a16:creationId xmlns:a16="http://schemas.microsoft.com/office/drawing/2014/main" id="{4886A5F6-867B-4921-89FA-EA64F09DA679}"/>
              </a:ext>
            </a:extLst>
          </p:cNvPr>
          <p:cNvSpPr>
            <a:spLocks noGrp="1"/>
          </p:cNvSpPr>
          <p:nvPr/>
        </p:nvSpPr>
        <p:spPr>
          <a:xfrm>
            <a:off x="5857875" y="5076825"/>
            <a:ext cx="528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Use submissions and results to reinforce, reteach or extend learning.</a:t>
            </a:r>
          </a:p>
        </p:txBody>
      </p:sp>
    </p:spTree>
    <p:extLst>
      <p:ext uri="{BB962C8B-B14F-4D97-AF65-F5344CB8AC3E}">
        <p14:creationId xmlns:p14="http://schemas.microsoft.com/office/powerpoint/2010/main" val="57654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-6">
            <a:extLst>
              <a:ext uri="{FF2B5EF4-FFF2-40B4-BE49-F238E27FC236}">
                <a16:creationId xmlns:a16="http://schemas.microsoft.com/office/drawing/2014/main" id="{58248E29-E014-4EBC-B449-7AFE08BC30B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2255385F-2319-4516-B616-100B10473B2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Engagement stays purposeful and academically focused</a:t>
            </a:r>
          </a:p>
        </p:txBody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3CF48BE0-5320-4DBC-BE4C-39D425794D69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engagement-lead">
            <a:extLst>
              <a:ext uri="{FF2B5EF4-FFF2-40B4-BE49-F238E27FC236}">
                <a16:creationId xmlns:a16="http://schemas.microsoft.com/office/drawing/2014/main" id="{F7E909F0-7016-4ED8-8802-6CE6E2D6BCC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Quiks adds variety to practice without turning learning into unrestricted screen time.</a:t>
            </a:r>
          </a:p>
        </p:txBody>
      </p:sp>
      <p:sp>
        <p:nvSpPr>
          <p:cNvPr id="5" name="engagement-accent-0">
            <a:extLst>
              <a:ext uri="{FF2B5EF4-FFF2-40B4-BE49-F238E27FC236}">
                <a16:creationId xmlns:a16="http://schemas.microsoft.com/office/drawing/2014/main" id="{89584C15-0423-4C56-80A6-4DDB73A0322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14300" cy="628650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engagement-title-0">
            <a:extLst>
              <a:ext uri="{FF2B5EF4-FFF2-40B4-BE49-F238E27FC236}">
                <a16:creationId xmlns:a16="http://schemas.microsoft.com/office/drawing/2014/main" id="{3B3F791F-9E93-4021-A48C-A88CF6AA523B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Competition Arena</a:t>
            </a:r>
          </a:p>
        </p:txBody>
      </p:sp>
      <p:sp>
        <p:nvSpPr>
          <p:cNvPr id="7" name="engagement-body-0">
            <a:extLst>
              <a:ext uri="{FF2B5EF4-FFF2-40B4-BE49-F238E27FC236}">
                <a16:creationId xmlns:a16="http://schemas.microsoft.com/office/drawing/2014/main" id="{497EF1BC-750A-492E-B00E-09FBDB948F2C}"/>
              </a:ext>
            </a:extLst>
          </p:cNvPr>
          <p:cNvSpPr>
            <a:spLocks noGrp="1"/>
          </p:cNvSpPr>
          <p:nvPr/>
        </p:nvSpPr>
        <p:spPr>
          <a:xfrm>
            <a:off x="4191000" y="2476500"/>
            <a:ext cx="704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One-to-one challenges make retrieval practice social and goal-oriented.</a:t>
            </a:r>
          </a:p>
        </p:txBody>
      </p:sp>
      <p:sp>
        <p:nvSpPr>
          <p:cNvPr id="8" name="engagement-accent-1">
            <a:extLst>
              <a:ext uri="{FF2B5EF4-FFF2-40B4-BE49-F238E27FC236}">
                <a16:creationId xmlns:a16="http://schemas.microsoft.com/office/drawing/2014/main" id="{C40ED02F-41D4-4B98-8013-D90D164D300C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114300" cy="628650"/>
          </a:xfrm>
          <a:prstGeom prst="rect">
            <a:avLst/>
          </a:prstGeom>
          <a:solidFill>
            <a:srgbClr val="7C2BC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engagement-title-1">
            <a:extLst>
              <a:ext uri="{FF2B5EF4-FFF2-40B4-BE49-F238E27FC236}">
                <a16:creationId xmlns:a16="http://schemas.microsoft.com/office/drawing/2014/main" id="{1190FF3D-4F2B-4C77-8AC5-0E70535CAE05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Group Competition</a:t>
            </a:r>
          </a:p>
        </p:txBody>
      </p:sp>
      <p:sp>
        <p:nvSpPr>
          <p:cNvPr id="10" name="engagement-body-1">
            <a:extLst>
              <a:ext uri="{FF2B5EF4-FFF2-40B4-BE49-F238E27FC236}">
                <a16:creationId xmlns:a16="http://schemas.microsoft.com/office/drawing/2014/main" id="{844528D2-CCA7-41E8-925B-63B7F4006526}"/>
              </a:ext>
            </a:extLst>
          </p:cNvPr>
          <p:cNvSpPr>
            <a:spLocks noGrp="1"/>
          </p:cNvSpPr>
          <p:nvPr/>
        </p:nvSpPr>
        <p:spPr>
          <a:xfrm>
            <a:off x="4191000" y="3352800"/>
            <a:ext cx="704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A teacher or learner creates a timed challenge that multiple participants join by code or link.</a:t>
            </a:r>
          </a:p>
        </p:txBody>
      </p:sp>
      <p:sp>
        <p:nvSpPr>
          <p:cNvPr id="11" name="engagement-accent-2">
            <a:extLst>
              <a:ext uri="{FF2B5EF4-FFF2-40B4-BE49-F238E27FC236}">
                <a16:creationId xmlns:a16="http://schemas.microsoft.com/office/drawing/2014/main" id="{4FB824FE-1F34-42A9-8FD7-2B907E424269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114300" cy="6286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engagement-title-2">
            <a:extLst>
              <a:ext uri="{FF2B5EF4-FFF2-40B4-BE49-F238E27FC236}">
                <a16:creationId xmlns:a16="http://schemas.microsoft.com/office/drawing/2014/main" id="{8DF99BF7-E817-489B-A80E-CA142C60BEC5}"/>
              </a:ext>
            </a:extLst>
          </p:cNvPr>
          <p:cNvSpPr>
            <a:spLocks noGrp="1"/>
          </p:cNvSpPr>
          <p:nvPr/>
        </p:nvSpPr>
        <p:spPr>
          <a:xfrm>
            <a:off x="1066800" y="42291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Certificates</a:t>
            </a:r>
          </a:p>
        </p:txBody>
      </p:sp>
      <p:sp>
        <p:nvSpPr>
          <p:cNvPr id="13" name="engagement-body-2">
            <a:extLst>
              <a:ext uri="{FF2B5EF4-FFF2-40B4-BE49-F238E27FC236}">
                <a16:creationId xmlns:a16="http://schemas.microsoft.com/office/drawing/2014/main" id="{547ECFFC-7947-41FC-B2EE-CA6E8DB23FE6}"/>
              </a:ext>
            </a:extLst>
          </p:cNvPr>
          <p:cNvSpPr>
            <a:spLocks noGrp="1"/>
          </p:cNvSpPr>
          <p:nvPr/>
        </p:nvSpPr>
        <p:spPr>
          <a:xfrm>
            <a:off x="4191000" y="4229100"/>
            <a:ext cx="704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Completing a grade in a subject creates a visible milestone that reflects excellence and speed.</a:t>
            </a:r>
          </a:p>
        </p:txBody>
      </p:sp>
      <p:sp>
        <p:nvSpPr>
          <p:cNvPr id="14" name="engagement-accent-3">
            <a:extLst>
              <a:ext uri="{FF2B5EF4-FFF2-40B4-BE49-F238E27FC236}">
                <a16:creationId xmlns:a16="http://schemas.microsoft.com/office/drawing/2014/main" id="{F25582EA-C751-48CC-9B11-C5CD25F3E276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14300" cy="628650"/>
          </a:xfrm>
          <a:prstGeom prst="rect">
            <a:avLst/>
          </a:prstGeom>
          <a:solidFill>
            <a:srgbClr val="E3A62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engagement-title-3">
            <a:extLst>
              <a:ext uri="{FF2B5EF4-FFF2-40B4-BE49-F238E27FC236}">
                <a16:creationId xmlns:a16="http://schemas.microsoft.com/office/drawing/2014/main" id="{1A4A5BB2-5005-4DCF-8A94-2119E748DAEC}"/>
              </a:ext>
            </a:extLst>
          </p:cNvPr>
          <p:cNvSpPr>
            <a:spLocks noGrp="1"/>
          </p:cNvSpPr>
          <p:nvPr/>
        </p:nvSpPr>
        <p:spPr>
          <a:xfrm>
            <a:off x="1066800" y="5105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Controlled Breathers</a:t>
            </a:r>
          </a:p>
        </p:txBody>
      </p:sp>
      <p:sp>
        <p:nvSpPr>
          <p:cNvPr id="16" name="engagement-body-3">
            <a:extLst>
              <a:ext uri="{FF2B5EF4-FFF2-40B4-BE49-F238E27FC236}">
                <a16:creationId xmlns:a16="http://schemas.microsoft.com/office/drawing/2014/main" id="{13F3D719-93F8-4814-BD25-F10A4EA834F4}"/>
              </a:ext>
            </a:extLst>
          </p:cNvPr>
          <p:cNvSpPr>
            <a:spLocks noGrp="1"/>
          </p:cNvSpPr>
          <p:nvPr/>
        </p:nvSpPr>
        <p:spPr>
          <a:xfrm>
            <a:off x="4191000" y="5105400"/>
            <a:ext cx="704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After three successful sessions, one short text or lightweight game break helps reduce fatigue before learning resumes.</a:t>
            </a:r>
          </a:p>
        </p:txBody>
      </p:sp>
    </p:spTree>
    <p:extLst>
      <p:ext uri="{BB962C8B-B14F-4D97-AF65-F5344CB8AC3E}">
        <p14:creationId xmlns:p14="http://schemas.microsoft.com/office/powerpoint/2010/main" val="132900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7">
            <a:extLst>
              <a:ext uri="{FF2B5EF4-FFF2-40B4-BE49-F238E27FC236}">
                <a16:creationId xmlns:a16="http://schemas.microsoft.com/office/drawing/2014/main" id="{33C2C04A-2A3B-4B43-A10D-3310455439C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SHARED VALUE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88205301-BD6A-44FB-9981-38D0A1248C6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One platform supports the whole school community</a:t>
            </a:r>
          </a:p>
        </p:txBody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92B8C8C9-652C-4376-8CAA-F108587AE189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group-0">
            <a:extLst>
              <a:ext uri="{FF2B5EF4-FFF2-40B4-BE49-F238E27FC236}">
                <a16:creationId xmlns:a16="http://schemas.microsoft.com/office/drawing/2014/main" id="{51C168E8-B173-4614-8F83-7739769F1A10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3352800" cy="4000500"/>
          </a:xfrm>
          <a:prstGeom prst="rect">
            <a:avLst/>
          </a:prstGeom>
          <a:solidFill>
            <a:srgbClr val="E7F6F3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group-name-0">
            <a:extLst>
              <a:ext uri="{FF2B5EF4-FFF2-40B4-BE49-F238E27FC236}">
                <a16:creationId xmlns:a16="http://schemas.microsoft.com/office/drawing/2014/main" id="{5B8FA52E-F73C-4690-8A6F-39346D829781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6" name="group-marker-0-0">
            <a:extLst>
              <a:ext uri="{FF2B5EF4-FFF2-40B4-BE49-F238E27FC236}">
                <a16:creationId xmlns:a16="http://schemas.microsoft.com/office/drawing/2014/main" id="{B5823081-69CE-4940-BB2A-C2B99809B8D1}"/>
              </a:ext>
            </a:extLst>
          </p:cNvPr>
          <p:cNvSpPr>
            <a:spLocks noGrp="1"/>
          </p:cNvSpPr>
          <p:nvPr/>
        </p:nvSpPr>
        <p:spPr>
          <a:xfrm>
            <a:off x="895350" y="3028950"/>
            <a:ext cx="85725" cy="85725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group-text-0-0">
            <a:extLst>
              <a:ext uri="{FF2B5EF4-FFF2-40B4-BE49-F238E27FC236}">
                <a16:creationId xmlns:a16="http://schemas.microsoft.com/office/drawing/2014/main" id="{CCDA46E1-18D0-44C5-B2BD-819DA7F72256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Purposeful independent study</a:t>
            </a:r>
          </a:p>
        </p:txBody>
      </p:sp>
      <p:sp>
        <p:nvSpPr>
          <p:cNvPr id="8" name="group-marker-0-1">
            <a:extLst>
              <a:ext uri="{FF2B5EF4-FFF2-40B4-BE49-F238E27FC236}">
                <a16:creationId xmlns:a16="http://schemas.microsoft.com/office/drawing/2014/main" id="{0C69602C-9CF5-4BAF-8932-ACB0CE4AA385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85725" cy="85725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group-text-0-1">
            <a:extLst>
              <a:ext uri="{FF2B5EF4-FFF2-40B4-BE49-F238E27FC236}">
                <a16:creationId xmlns:a16="http://schemas.microsoft.com/office/drawing/2014/main" id="{36178207-784D-4425-B5F4-E93EEE1CDDE5}"/>
              </a:ext>
            </a:extLst>
          </p:cNvPr>
          <p:cNvSpPr>
            <a:spLocks noGrp="1"/>
          </p:cNvSpPr>
          <p:nvPr/>
        </p:nvSpPr>
        <p:spPr>
          <a:xfrm>
            <a:off x="1143000" y="37909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Explanation-led revision</a:t>
            </a:r>
          </a:p>
        </p:txBody>
      </p:sp>
      <p:sp>
        <p:nvSpPr>
          <p:cNvPr id="10" name="group-marker-0-2">
            <a:extLst>
              <a:ext uri="{FF2B5EF4-FFF2-40B4-BE49-F238E27FC236}">
                <a16:creationId xmlns:a16="http://schemas.microsoft.com/office/drawing/2014/main" id="{B06A383B-A20B-4B20-8399-FD209B76B7E1}"/>
              </a:ext>
            </a:extLst>
          </p:cNvPr>
          <p:cNvSpPr>
            <a:spLocks noGrp="1"/>
          </p:cNvSpPr>
          <p:nvPr/>
        </p:nvSpPr>
        <p:spPr>
          <a:xfrm>
            <a:off x="895350" y="4705350"/>
            <a:ext cx="85725" cy="85725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group-text-0-2">
            <a:extLst>
              <a:ext uri="{FF2B5EF4-FFF2-40B4-BE49-F238E27FC236}">
                <a16:creationId xmlns:a16="http://schemas.microsoft.com/office/drawing/2014/main" id="{73F18D39-B578-42FE-951B-38F53699F75D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Visible progress and motivation</a:t>
            </a:r>
          </a:p>
        </p:txBody>
      </p:sp>
      <p:sp>
        <p:nvSpPr>
          <p:cNvPr id="12" name="group-1">
            <a:extLst>
              <a:ext uri="{FF2B5EF4-FFF2-40B4-BE49-F238E27FC236}">
                <a16:creationId xmlns:a16="http://schemas.microsoft.com/office/drawing/2014/main" id="{7D3E03D9-D57F-4EED-9BB4-3CF274339DEB}"/>
              </a:ext>
            </a:extLst>
          </p:cNvPr>
          <p:cNvSpPr>
            <a:spLocks noGrp="1"/>
          </p:cNvSpPr>
          <p:nvPr/>
        </p:nvSpPr>
        <p:spPr>
          <a:xfrm>
            <a:off x="4343400" y="1828800"/>
            <a:ext cx="3352800" cy="40005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group-name-1">
            <a:extLst>
              <a:ext uri="{FF2B5EF4-FFF2-40B4-BE49-F238E27FC236}">
                <a16:creationId xmlns:a16="http://schemas.microsoft.com/office/drawing/2014/main" id="{B336FFFA-C15A-46B2-AC26-9DCCB81348EA}"/>
              </a:ext>
            </a:extLst>
          </p:cNvPr>
          <p:cNvSpPr>
            <a:spLocks noGrp="1"/>
          </p:cNvSpPr>
          <p:nvPr/>
        </p:nvSpPr>
        <p:spPr>
          <a:xfrm>
            <a:off x="4610100" y="219075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TEACHERS</a:t>
            </a:r>
          </a:p>
        </p:txBody>
      </p:sp>
      <p:sp>
        <p:nvSpPr>
          <p:cNvPr id="14" name="group-marker-1-0">
            <a:extLst>
              <a:ext uri="{FF2B5EF4-FFF2-40B4-BE49-F238E27FC236}">
                <a16:creationId xmlns:a16="http://schemas.microsoft.com/office/drawing/2014/main" id="{3C8AB57F-AF5F-4064-93C9-DD569ACD7C20}"/>
              </a:ext>
            </a:extLst>
          </p:cNvPr>
          <p:cNvSpPr>
            <a:spLocks noGrp="1"/>
          </p:cNvSpPr>
          <p:nvPr/>
        </p:nvSpPr>
        <p:spPr>
          <a:xfrm>
            <a:off x="462915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group-text-1-0">
            <a:extLst>
              <a:ext uri="{FF2B5EF4-FFF2-40B4-BE49-F238E27FC236}">
                <a16:creationId xmlns:a16="http://schemas.microsoft.com/office/drawing/2014/main" id="{2E4E4585-3886-4B59-A1E3-B0974CFB559A}"/>
              </a:ext>
            </a:extLst>
          </p:cNvPr>
          <p:cNvSpPr>
            <a:spLocks noGrp="1"/>
          </p:cNvSpPr>
          <p:nvPr/>
        </p:nvSpPr>
        <p:spPr>
          <a:xfrm>
            <a:off x="4876800" y="29527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Digital class organisation</a:t>
            </a:r>
          </a:p>
        </p:txBody>
      </p:sp>
      <p:sp>
        <p:nvSpPr>
          <p:cNvPr id="16" name="group-marker-1-1">
            <a:extLst>
              <a:ext uri="{FF2B5EF4-FFF2-40B4-BE49-F238E27FC236}">
                <a16:creationId xmlns:a16="http://schemas.microsoft.com/office/drawing/2014/main" id="{55B91C88-F11C-4641-BC7D-BC9D5006FA93}"/>
              </a:ext>
            </a:extLst>
          </p:cNvPr>
          <p:cNvSpPr>
            <a:spLocks noGrp="1"/>
          </p:cNvSpPr>
          <p:nvPr/>
        </p:nvSpPr>
        <p:spPr>
          <a:xfrm>
            <a:off x="4629150" y="38671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group-text-1-1">
            <a:extLst>
              <a:ext uri="{FF2B5EF4-FFF2-40B4-BE49-F238E27FC236}">
                <a16:creationId xmlns:a16="http://schemas.microsoft.com/office/drawing/2014/main" id="{1713B66F-ECFE-4EC3-84BB-53DC53D2AD2A}"/>
              </a:ext>
            </a:extLst>
          </p:cNvPr>
          <p:cNvSpPr>
            <a:spLocks noGrp="1"/>
          </p:cNvSpPr>
          <p:nvPr/>
        </p:nvSpPr>
        <p:spPr>
          <a:xfrm>
            <a:off x="4876800" y="37909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Faster activity creation</a:t>
            </a:r>
          </a:p>
        </p:txBody>
      </p:sp>
      <p:sp>
        <p:nvSpPr>
          <p:cNvPr id="18" name="group-marker-1-2">
            <a:extLst>
              <a:ext uri="{FF2B5EF4-FFF2-40B4-BE49-F238E27FC236}">
                <a16:creationId xmlns:a16="http://schemas.microsoft.com/office/drawing/2014/main" id="{47B7A397-CA86-48AC-B759-FCCCCEE42A0A}"/>
              </a:ext>
            </a:extLst>
          </p:cNvPr>
          <p:cNvSpPr>
            <a:spLocks noGrp="1"/>
          </p:cNvSpPr>
          <p:nvPr/>
        </p:nvSpPr>
        <p:spPr>
          <a:xfrm>
            <a:off x="4629150" y="47053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group-text-1-2">
            <a:extLst>
              <a:ext uri="{FF2B5EF4-FFF2-40B4-BE49-F238E27FC236}">
                <a16:creationId xmlns:a16="http://schemas.microsoft.com/office/drawing/2014/main" id="{05034078-748C-4D30-BDEC-D5165876F4F5}"/>
              </a:ext>
            </a:extLst>
          </p:cNvPr>
          <p:cNvSpPr>
            <a:spLocks noGrp="1"/>
          </p:cNvSpPr>
          <p:nvPr/>
        </p:nvSpPr>
        <p:spPr>
          <a:xfrm>
            <a:off x="4876800" y="46291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Clearer follow-up on participation</a:t>
            </a:r>
          </a:p>
        </p:txBody>
      </p:sp>
      <p:sp>
        <p:nvSpPr>
          <p:cNvPr id="20" name="group-2">
            <a:extLst>
              <a:ext uri="{FF2B5EF4-FFF2-40B4-BE49-F238E27FC236}">
                <a16:creationId xmlns:a16="http://schemas.microsoft.com/office/drawing/2014/main" id="{7F5D96A0-C1BB-43EE-AC54-40DFB6BAD48D}"/>
              </a:ext>
            </a:extLst>
          </p:cNvPr>
          <p:cNvSpPr>
            <a:spLocks noGrp="1"/>
          </p:cNvSpPr>
          <p:nvPr/>
        </p:nvSpPr>
        <p:spPr>
          <a:xfrm>
            <a:off x="8077200" y="1828800"/>
            <a:ext cx="3352800" cy="4000500"/>
          </a:xfrm>
          <a:prstGeom prst="rect">
            <a:avLst/>
          </a:prstGeom>
          <a:solidFill>
            <a:srgbClr val="FFF5DA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group-name-2">
            <a:extLst>
              <a:ext uri="{FF2B5EF4-FFF2-40B4-BE49-F238E27FC236}">
                <a16:creationId xmlns:a16="http://schemas.microsoft.com/office/drawing/2014/main" id="{B2861730-403E-43BC-A291-023FC3AF7701}"/>
              </a:ext>
            </a:extLst>
          </p:cNvPr>
          <p:cNvSpPr>
            <a:spLocks noGrp="1"/>
          </p:cNvSpPr>
          <p:nvPr/>
        </p:nvSpPr>
        <p:spPr>
          <a:xfrm>
            <a:off x="8343900" y="219075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3A62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3A62F"/>
                </a:solidFill>
                <a:latin typeface="Arial"/>
                <a:ea typeface="Arial"/>
                <a:cs typeface="Arial"/>
              </a:rPr>
              <a:t>PARENTS</a:t>
            </a:r>
          </a:p>
        </p:txBody>
      </p:sp>
      <p:sp>
        <p:nvSpPr>
          <p:cNvPr id="22" name="group-marker-2-0">
            <a:extLst>
              <a:ext uri="{FF2B5EF4-FFF2-40B4-BE49-F238E27FC236}">
                <a16:creationId xmlns:a16="http://schemas.microsoft.com/office/drawing/2014/main" id="{E341AC8D-0496-4803-A253-29D0EFF6104B}"/>
              </a:ext>
            </a:extLst>
          </p:cNvPr>
          <p:cNvSpPr>
            <a:spLocks noGrp="1"/>
          </p:cNvSpPr>
          <p:nvPr/>
        </p:nvSpPr>
        <p:spPr>
          <a:xfrm>
            <a:off x="8362950" y="3028950"/>
            <a:ext cx="85725" cy="85725"/>
          </a:xfrm>
          <a:prstGeom prst="rect">
            <a:avLst/>
          </a:prstGeom>
          <a:solidFill>
            <a:srgbClr val="E3A62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group-text-2-0">
            <a:extLst>
              <a:ext uri="{FF2B5EF4-FFF2-40B4-BE49-F238E27FC236}">
                <a16:creationId xmlns:a16="http://schemas.microsoft.com/office/drawing/2014/main" id="{E716F76B-2FC1-45B2-BC31-6CA2C8C02F3D}"/>
              </a:ext>
            </a:extLst>
          </p:cNvPr>
          <p:cNvSpPr>
            <a:spLocks noGrp="1"/>
          </p:cNvSpPr>
          <p:nvPr/>
        </p:nvSpPr>
        <p:spPr>
          <a:xfrm>
            <a:off x="8610600" y="29527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A productive home-learning option</a:t>
            </a:r>
          </a:p>
        </p:txBody>
      </p:sp>
      <p:sp>
        <p:nvSpPr>
          <p:cNvPr id="24" name="group-marker-2-1">
            <a:extLst>
              <a:ext uri="{FF2B5EF4-FFF2-40B4-BE49-F238E27FC236}">
                <a16:creationId xmlns:a16="http://schemas.microsoft.com/office/drawing/2014/main" id="{0451FE9F-7C3E-4D8D-A9E6-E5412C923734}"/>
              </a:ext>
            </a:extLst>
          </p:cNvPr>
          <p:cNvSpPr>
            <a:spLocks noGrp="1"/>
          </p:cNvSpPr>
          <p:nvPr/>
        </p:nvSpPr>
        <p:spPr>
          <a:xfrm>
            <a:off x="8362950" y="3867150"/>
            <a:ext cx="85725" cy="85725"/>
          </a:xfrm>
          <a:prstGeom prst="rect">
            <a:avLst/>
          </a:prstGeom>
          <a:solidFill>
            <a:srgbClr val="E3A62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group-text-2-1">
            <a:extLst>
              <a:ext uri="{FF2B5EF4-FFF2-40B4-BE49-F238E27FC236}">
                <a16:creationId xmlns:a16="http://schemas.microsoft.com/office/drawing/2014/main" id="{63D2D083-E671-405B-9ACE-DC9FA8148C63}"/>
              </a:ext>
            </a:extLst>
          </p:cNvPr>
          <p:cNvSpPr>
            <a:spLocks noGrp="1"/>
          </p:cNvSpPr>
          <p:nvPr/>
        </p:nvSpPr>
        <p:spPr>
          <a:xfrm>
            <a:off x="8610600" y="37909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Greater continuity with schoolwork</a:t>
            </a:r>
          </a:p>
        </p:txBody>
      </p:sp>
      <p:sp>
        <p:nvSpPr>
          <p:cNvPr id="26" name="group-marker-2-2">
            <a:extLst>
              <a:ext uri="{FF2B5EF4-FFF2-40B4-BE49-F238E27FC236}">
                <a16:creationId xmlns:a16="http://schemas.microsoft.com/office/drawing/2014/main" id="{15C412C7-71E1-4C67-9028-733CCE07078F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85725" cy="85725"/>
          </a:xfrm>
          <a:prstGeom prst="rect">
            <a:avLst/>
          </a:prstGeom>
          <a:solidFill>
            <a:srgbClr val="E3A62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group-text-2-2">
            <a:extLst>
              <a:ext uri="{FF2B5EF4-FFF2-40B4-BE49-F238E27FC236}">
                <a16:creationId xmlns:a16="http://schemas.microsoft.com/office/drawing/2014/main" id="{B209885F-05A6-4949-A414-F2E1731A27B7}"/>
              </a:ext>
            </a:extLst>
          </p:cNvPr>
          <p:cNvSpPr>
            <a:spLocks noGrp="1"/>
          </p:cNvSpPr>
          <p:nvPr/>
        </p:nvSpPr>
        <p:spPr>
          <a:xfrm>
            <a:off x="8610600" y="4629150"/>
            <a:ext cx="245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A clearer view of learner progress</a:t>
            </a:r>
          </a:p>
        </p:txBody>
      </p:sp>
    </p:spTree>
    <p:extLst>
      <p:ext uri="{BB962C8B-B14F-4D97-AF65-F5344CB8AC3E}">
        <p14:creationId xmlns:p14="http://schemas.microsoft.com/office/powerpoint/2010/main" val="73178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8">
            <a:extLst>
              <a:ext uri="{FF2B5EF4-FFF2-40B4-BE49-F238E27FC236}">
                <a16:creationId xmlns:a16="http://schemas.microsoft.com/office/drawing/2014/main" id="{8D244C5A-018E-4A60-BD48-DD64EB4C294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USE CASES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A035142-6E0C-4E89-A160-5ECD3D87DA4A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Four school routines where Quiks adds immediate value</a:t>
            </a:r>
          </a:p>
        </p:txBody>
      </p:sp>
      <p:sp>
        <p:nvSpPr>
          <p:cNvPr id="3" name="page-8">
            <a:extLst>
              <a:ext uri="{FF2B5EF4-FFF2-40B4-BE49-F238E27FC236}">
                <a16:creationId xmlns:a16="http://schemas.microsoft.com/office/drawing/2014/main" id="{24FD8578-5D10-4360-8E2A-FF45C3A6CFA6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case-0">
            <a:extLst>
              <a:ext uri="{FF2B5EF4-FFF2-40B4-BE49-F238E27FC236}">
                <a16:creationId xmlns:a16="http://schemas.microsoft.com/office/drawing/2014/main" id="{88B08FA7-301D-43ED-B61E-AAAD21A98330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5105400" cy="1809750"/>
          </a:xfrm>
          <a:prstGeom prst="rect">
            <a:avLst/>
          </a:prstGeom>
          <a:solidFill>
            <a:srgbClr val="E7F6F3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case-number-0">
            <a:extLst>
              <a:ext uri="{FF2B5EF4-FFF2-40B4-BE49-F238E27FC236}">
                <a16:creationId xmlns:a16="http://schemas.microsoft.com/office/drawing/2014/main" id="{3D2B3477-1EFE-44FC-978B-85F03D593193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ase-title-0">
            <a:extLst>
              <a:ext uri="{FF2B5EF4-FFF2-40B4-BE49-F238E27FC236}">
                <a16:creationId xmlns:a16="http://schemas.microsoft.com/office/drawing/2014/main" id="{8E6BCEA6-9702-468B-86CB-329F0DBE685E}"/>
              </a:ext>
            </a:extLst>
          </p:cNvPr>
          <p:cNvSpPr>
            <a:spLocks noGrp="1"/>
          </p:cNvSpPr>
          <p:nvPr/>
        </p:nvSpPr>
        <p:spPr>
          <a:xfrm>
            <a:off x="1600200" y="201930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Homework &amp; consolidation</a:t>
            </a:r>
          </a:p>
        </p:txBody>
      </p:sp>
      <p:sp>
        <p:nvSpPr>
          <p:cNvPr id="7" name="case-body-0">
            <a:extLst>
              <a:ext uri="{FF2B5EF4-FFF2-40B4-BE49-F238E27FC236}">
                <a16:creationId xmlns:a16="http://schemas.microsoft.com/office/drawing/2014/main" id="{BB00078D-A54E-4C3B-8273-EAB2C4C792A7}"/>
              </a:ext>
            </a:extLst>
          </p:cNvPr>
          <p:cNvSpPr>
            <a:spLocks noGrp="1"/>
          </p:cNvSpPr>
          <p:nvPr/>
        </p:nvSpPr>
        <p:spPr>
          <a:xfrm>
            <a:off x="1600200" y="2562225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Set focused practice after a taught topic, supported by explanations and Learn More.</a:t>
            </a:r>
          </a:p>
        </p:txBody>
      </p:sp>
      <p:sp>
        <p:nvSpPr>
          <p:cNvPr id="8" name="case-1">
            <a:extLst>
              <a:ext uri="{FF2B5EF4-FFF2-40B4-BE49-F238E27FC236}">
                <a16:creationId xmlns:a16="http://schemas.microsoft.com/office/drawing/2014/main" id="{EBCDE1B0-1525-49AE-9C80-C0EA52D34348}"/>
              </a:ext>
            </a:extLst>
          </p:cNvPr>
          <p:cNvSpPr>
            <a:spLocks noGrp="1"/>
          </p:cNvSpPr>
          <p:nvPr/>
        </p:nvSpPr>
        <p:spPr>
          <a:xfrm>
            <a:off x="6172200" y="1790700"/>
            <a:ext cx="5105400" cy="1809750"/>
          </a:xfrm>
          <a:prstGeom prst="rect">
            <a:avLst/>
          </a:prstGeom>
          <a:solidFill>
            <a:srgbClr val="E7F6F3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case-number-1">
            <a:extLst>
              <a:ext uri="{FF2B5EF4-FFF2-40B4-BE49-F238E27FC236}">
                <a16:creationId xmlns:a16="http://schemas.microsoft.com/office/drawing/2014/main" id="{954EF659-1A10-4162-8AB1-8C14EF9E8012}"/>
              </a:ext>
            </a:extLst>
          </p:cNvPr>
          <p:cNvSpPr>
            <a:spLocks noGrp="1"/>
          </p:cNvSpPr>
          <p:nvPr/>
        </p:nvSpPr>
        <p:spPr>
          <a:xfrm>
            <a:off x="6438900" y="20383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7C2BC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C2BC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ase-title-1">
            <a:extLst>
              <a:ext uri="{FF2B5EF4-FFF2-40B4-BE49-F238E27FC236}">
                <a16:creationId xmlns:a16="http://schemas.microsoft.com/office/drawing/2014/main" id="{0E22E84C-2AAA-4A2C-A33F-7E5EFAC1CE00}"/>
              </a:ext>
            </a:extLst>
          </p:cNvPr>
          <p:cNvSpPr>
            <a:spLocks noGrp="1"/>
          </p:cNvSpPr>
          <p:nvPr/>
        </p:nvSpPr>
        <p:spPr>
          <a:xfrm>
            <a:off x="7162800" y="201930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Exam preparation</a:t>
            </a:r>
          </a:p>
        </p:txBody>
      </p:sp>
      <p:sp>
        <p:nvSpPr>
          <p:cNvPr id="11" name="case-body-1">
            <a:extLst>
              <a:ext uri="{FF2B5EF4-FFF2-40B4-BE49-F238E27FC236}">
                <a16:creationId xmlns:a16="http://schemas.microsoft.com/office/drawing/2014/main" id="{6A198331-C6E2-42DD-816C-5EB3BC688A57}"/>
              </a:ext>
            </a:extLst>
          </p:cNvPr>
          <p:cNvSpPr>
            <a:spLocks noGrp="1"/>
          </p:cNvSpPr>
          <p:nvPr/>
        </p:nvSpPr>
        <p:spPr>
          <a:xfrm>
            <a:off x="7162800" y="2562225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Run regular revision around priority subjects, curricula and target examinations.</a:t>
            </a:r>
          </a:p>
        </p:txBody>
      </p:sp>
      <p:sp>
        <p:nvSpPr>
          <p:cNvPr id="12" name="case-2">
            <a:extLst>
              <a:ext uri="{FF2B5EF4-FFF2-40B4-BE49-F238E27FC236}">
                <a16:creationId xmlns:a16="http://schemas.microsoft.com/office/drawing/2014/main" id="{CB102C25-80C4-41ED-AD7C-302512B2B140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5105400" cy="1809750"/>
          </a:xfrm>
          <a:prstGeom prst="rect">
            <a:avLst/>
          </a:prstGeom>
          <a:solidFill>
            <a:srgbClr val="F4EAFB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case-number-2">
            <a:extLst>
              <a:ext uri="{FF2B5EF4-FFF2-40B4-BE49-F238E27FC236}">
                <a16:creationId xmlns:a16="http://schemas.microsoft.com/office/drawing/2014/main" id="{71D1D0CD-9402-4D6A-ACB4-AF1BCC5BF440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case-title-2">
            <a:extLst>
              <a:ext uri="{FF2B5EF4-FFF2-40B4-BE49-F238E27FC236}">
                <a16:creationId xmlns:a16="http://schemas.microsoft.com/office/drawing/2014/main" id="{9C97A169-7577-47F3-A211-D55CE1C09B3F}"/>
              </a:ext>
            </a:extLst>
          </p:cNvPr>
          <p:cNvSpPr>
            <a:spLocks noGrp="1"/>
          </p:cNvSpPr>
          <p:nvPr/>
        </p:nvSpPr>
        <p:spPr>
          <a:xfrm>
            <a:off x="1600200" y="41719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15" name="case-body-2">
            <a:extLst>
              <a:ext uri="{FF2B5EF4-FFF2-40B4-BE49-F238E27FC236}">
                <a16:creationId xmlns:a16="http://schemas.microsoft.com/office/drawing/2014/main" id="{603445A1-00CD-48E6-9CF1-F945EF0F6236}"/>
              </a:ext>
            </a:extLst>
          </p:cNvPr>
          <p:cNvSpPr>
            <a:spLocks noGrp="1"/>
          </p:cNvSpPr>
          <p:nvPr/>
        </p:nvSpPr>
        <p:spPr>
          <a:xfrm>
            <a:off x="1600200" y="4714875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Give learners additional class-appropriate practice in areas where they need support.</a:t>
            </a:r>
          </a:p>
        </p:txBody>
      </p:sp>
      <p:sp>
        <p:nvSpPr>
          <p:cNvPr id="16" name="case-3">
            <a:extLst>
              <a:ext uri="{FF2B5EF4-FFF2-40B4-BE49-F238E27FC236}">
                <a16:creationId xmlns:a16="http://schemas.microsoft.com/office/drawing/2014/main" id="{3546EAD3-A1BD-4E8A-AB78-E13E6787D043}"/>
              </a:ext>
            </a:extLst>
          </p:cNvPr>
          <p:cNvSpPr>
            <a:spLocks noGrp="1"/>
          </p:cNvSpPr>
          <p:nvPr/>
        </p:nvSpPr>
        <p:spPr>
          <a:xfrm>
            <a:off x="6172200" y="3943350"/>
            <a:ext cx="5105400" cy="1809750"/>
          </a:xfrm>
          <a:prstGeom prst="rect">
            <a:avLst/>
          </a:prstGeom>
          <a:solidFill>
            <a:srgbClr val="F4EAFB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case-number-3">
            <a:extLst>
              <a:ext uri="{FF2B5EF4-FFF2-40B4-BE49-F238E27FC236}">
                <a16:creationId xmlns:a16="http://schemas.microsoft.com/office/drawing/2014/main" id="{D0A8A2FF-D80F-4B88-A8CB-B718BE82686C}"/>
              </a:ext>
            </a:extLst>
          </p:cNvPr>
          <p:cNvSpPr>
            <a:spLocks noGrp="1"/>
          </p:cNvSpPr>
          <p:nvPr/>
        </p:nvSpPr>
        <p:spPr>
          <a:xfrm>
            <a:off x="6438900" y="419100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7C2BC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C2BC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case-title-3">
            <a:extLst>
              <a:ext uri="{FF2B5EF4-FFF2-40B4-BE49-F238E27FC236}">
                <a16:creationId xmlns:a16="http://schemas.microsoft.com/office/drawing/2014/main" id="{7EFB2281-4227-4415-B802-1FC38C0EAF83}"/>
              </a:ext>
            </a:extLst>
          </p:cNvPr>
          <p:cNvSpPr>
            <a:spLocks noGrp="1"/>
          </p:cNvSpPr>
          <p:nvPr/>
        </p:nvSpPr>
        <p:spPr>
          <a:xfrm>
            <a:off x="7162800" y="41719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Enrichment</a:t>
            </a:r>
          </a:p>
        </p:txBody>
      </p:sp>
      <p:sp>
        <p:nvSpPr>
          <p:cNvPr id="19" name="case-body-3">
            <a:extLst>
              <a:ext uri="{FF2B5EF4-FFF2-40B4-BE49-F238E27FC236}">
                <a16:creationId xmlns:a16="http://schemas.microsoft.com/office/drawing/2014/main" id="{597E626C-2D47-449E-9663-0C73DEA707E4}"/>
              </a:ext>
            </a:extLst>
          </p:cNvPr>
          <p:cNvSpPr>
            <a:spLocks noGrp="1"/>
          </p:cNvSpPr>
          <p:nvPr/>
        </p:nvSpPr>
        <p:spPr>
          <a:xfrm>
            <a:off x="7162800" y="4714875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Use the Learning Hub and competitions in clubs, holiday programmes or extension work.</a:t>
            </a:r>
          </a:p>
        </p:txBody>
      </p:sp>
    </p:spTree>
    <p:extLst>
      <p:ext uri="{BB962C8B-B14F-4D97-AF65-F5344CB8AC3E}">
        <p14:creationId xmlns:p14="http://schemas.microsoft.com/office/powerpoint/2010/main" val="203898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-9">
            <a:extLst>
              <a:ext uri="{FF2B5EF4-FFF2-40B4-BE49-F238E27FC236}">
                <a16:creationId xmlns:a16="http://schemas.microsoft.com/office/drawing/2014/main" id="{B1340B0D-A0EA-4676-AD55-7944124B578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SCHOOL WORKFLOW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C7119F71-0C33-44C8-93B2-07856D65800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Teachers lead a simple four-step learning cycle</a:t>
            </a:r>
          </a:p>
        </p:txBody>
      </p:sp>
      <p:sp>
        <p:nvSpPr>
          <p:cNvPr id="3" name="page-9">
            <a:extLst>
              <a:ext uri="{FF2B5EF4-FFF2-40B4-BE49-F238E27FC236}">
                <a16:creationId xmlns:a16="http://schemas.microsoft.com/office/drawing/2014/main" id="{2E7F3F6D-EFE3-4927-8D72-1F89D2E65FF7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ule-120-330">
            <a:extLst>
              <a:ext uri="{FF2B5EF4-FFF2-40B4-BE49-F238E27FC236}">
                <a16:creationId xmlns:a16="http://schemas.microsoft.com/office/drawing/2014/main" id="{959B2545-67FA-4CC3-AA93-3C04C73CC35C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9906000" cy="28575"/>
          </a:xfrm>
          <a:prstGeom prst="rect">
            <a:avLst/>
          </a:prstGeom>
          <a:solidFill>
            <a:srgbClr val="0F2130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imeline-dot-0">
            <a:extLst>
              <a:ext uri="{FF2B5EF4-FFF2-40B4-BE49-F238E27FC236}">
                <a16:creationId xmlns:a16="http://schemas.microsoft.com/office/drawing/2014/main" id="{92BA7B92-5D11-47B9-8C19-D3E9202406B3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400050" cy="400050"/>
          </a:xfrm>
          <a:prstGeom prst="ellipse">
            <a:avLst/>
          </a:prstGeom>
          <a:solidFill>
            <a:srgbClr val="159A8C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imeline-stage-0">
            <a:extLst>
              <a:ext uri="{FF2B5EF4-FFF2-40B4-BE49-F238E27FC236}">
                <a16:creationId xmlns:a16="http://schemas.microsoft.com/office/drawing/2014/main" id="{4C76BD87-406C-406F-B5F1-6E8F26F66526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7" name="timeline-body-0">
            <a:extLst>
              <a:ext uri="{FF2B5EF4-FFF2-40B4-BE49-F238E27FC236}">
                <a16:creationId xmlns:a16="http://schemas.microsoft.com/office/drawing/2014/main" id="{7AC31F01-9B69-471C-983E-F3367A7F9A4E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Choose the subject, topic, class or examination objective.</a:t>
            </a:r>
          </a:p>
        </p:txBody>
      </p:sp>
      <p:sp>
        <p:nvSpPr>
          <p:cNvPr id="8" name="timeline-dot-1">
            <a:extLst>
              <a:ext uri="{FF2B5EF4-FFF2-40B4-BE49-F238E27FC236}">
                <a16:creationId xmlns:a16="http://schemas.microsoft.com/office/drawing/2014/main" id="{889E3C02-2A5D-4063-9DE3-AE27AA3E4EDB}"/>
              </a:ext>
            </a:extLst>
          </p:cNvPr>
          <p:cNvSpPr>
            <a:spLocks noGrp="1"/>
          </p:cNvSpPr>
          <p:nvPr/>
        </p:nvSpPr>
        <p:spPr>
          <a:xfrm>
            <a:off x="4057650" y="2952750"/>
            <a:ext cx="400050" cy="400050"/>
          </a:xfrm>
          <a:prstGeom prst="ellipse">
            <a:avLst/>
          </a:prstGeom>
          <a:solidFill>
            <a:srgbClr val="3D8DF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imeline-stage-1">
            <a:extLst>
              <a:ext uri="{FF2B5EF4-FFF2-40B4-BE49-F238E27FC236}">
                <a16:creationId xmlns:a16="http://schemas.microsoft.com/office/drawing/2014/main" id="{17A7E25C-4EEE-4420-9B1A-E720C32F0529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0" name="timeline-body-1">
            <a:extLst>
              <a:ext uri="{FF2B5EF4-FFF2-40B4-BE49-F238E27FC236}">
                <a16:creationId xmlns:a16="http://schemas.microsoft.com/office/drawing/2014/main" id="{0703386F-959B-466D-A75E-5D11ED13C923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Set the Classroom activity and share access.</a:t>
            </a:r>
          </a:p>
        </p:txBody>
      </p:sp>
      <p:sp>
        <p:nvSpPr>
          <p:cNvPr id="11" name="timeline-dot-2">
            <a:extLst>
              <a:ext uri="{FF2B5EF4-FFF2-40B4-BE49-F238E27FC236}">
                <a16:creationId xmlns:a16="http://schemas.microsoft.com/office/drawing/2014/main" id="{1582186F-870D-4011-A589-2DED4361AC43}"/>
              </a:ext>
            </a:extLst>
          </p:cNvPr>
          <p:cNvSpPr>
            <a:spLocks noGrp="1"/>
          </p:cNvSpPr>
          <p:nvPr/>
        </p:nvSpPr>
        <p:spPr>
          <a:xfrm>
            <a:off x="6915150" y="2952750"/>
            <a:ext cx="400050" cy="400050"/>
          </a:xfrm>
          <a:prstGeom prst="ellipse">
            <a:avLst/>
          </a:prstGeom>
          <a:solidFill>
            <a:srgbClr val="7C2BC4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imeline-stage-2">
            <a:extLst>
              <a:ext uri="{FF2B5EF4-FFF2-40B4-BE49-F238E27FC236}">
                <a16:creationId xmlns:a16="http://schemas.microsoft.com/office/drawing/2014/main" id="{B865AA6D-70EE-486E-93EF-83262198BABC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7C2B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2BC4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3" name="timeline-body-2">
            <a:extLst>
              <a:ext uri="{FF2B5EF4-FFF2-40B4-BE49-F238E27FC236}">
                <a16:creationId xmlns:a16="http://schemas.microsoft.com/office/drawing/2014/main" id="{490828F7-EECE-42F5-AB09-DC55E4DCF2FB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Students practise, review explanations and explore further.</a:t>
            </a:r>
          </a:p>
        </p:txBody>
      </p:sp>
      <p:sp>
        <p:nvSpPr>
          <p:cNvPr id="14" name="timeline-dot-3">
            <a:extLst>
              <a:ext uri="{FF2B5EF4-FFF2-40B4-BE49-F238E27FC236}">
                <a16:creationId xmlns:a16="http://schemas.microsoft.com/office/drawing/2014/main" id="{FA0A2483-7267-4D49-AD70-7F042A75AB6C}"/>
              </a:ext>
            </a:extLst>
          </p:cNvPr>
          <p:cNvSpPr>
            <a:spLocks noGrp="1"/>
          </p:cNvSpPr>
          <p:nvPr/>
        </p:nvSpPr>
        <p:spPr>
          <a:xfrm>
            <a:off x="9772650" y="2952750"/>
            <a:ext cx="400050" cy="400050"/>
          </a:xfrm>
          <a:prstGeom prst="ellipse">
            <a:avLst/>
          </a:prstGeom>
          <a:solidFill>
            <a:srgbClr val="E3A62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imeline-stage-3">
            <a:extLst>
              <a:ext uri="{FF2B5EF4-FFF2-40B4-BE49-F238E27FC236}">
                <a16:creationId xmlns:a16="http://schemas.microsoft.com/office/drawing/2014/main" id="{8411D340-3BFB-41CE-ACEF-A74A2255162D}"/>
              </a:ext>
            </a:extLst>
          </p:cNvPr>
          <p:cNvSpPr>
            <a:spLocks noGrp="1"/>
          </p:cNvSpPr>
          <p:nvPr/>
        </p:nvSpPr>
        <p:spPr>
          <a:xfrm>
            <a:off x="9429750" y="21431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E3A62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3A62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6" name="timeline-body-3">
            <a:extLst>
              <a:ext uri="{FF2B5EF4-FFF2-40B4-BE49-F238E27FC236}">
                <a16:creationId xmlns:a16="http://schemas.microsoft.com/office/drawing/2014/main" id="{5CC51613-3EA8-463E-9DBE-84ABCED052B9}"/>
              </a:ext>
            </a:extLst>
          </p:cNvPr>
          <p:cNvSpPr>
            <a:spLocks noGrp="1"/>
          </p:cNvSpPr>
          <p:nvPr/>
        </p:nvSpPr>
        <p:spPr>
          <a:xfrm>
            <a:off x="9429750" y="371475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Review results, then reinforce, reteach or extend.</a:t>
            </a:r>
          </a:p>
        </p:txBody>
      </p:sp>
      <p:sp>
        <p:nvSpPr>
          <p:cNvPr id="17" name="workflow-note">
            <a:extLst>
              <a:ext uri="{FF2B5EF4-FFF2-40B4-BE49-F238E27FC236}">
                <a16:creationId xmlns:a16="http://schemas.microsoft.com/office/drawing/2014/main" id="{BF24519C-3A30-4F83-89AB-77D9A190D1FB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619125"/>
          </a:xfrm>
          <a:prstGeom prst="rect">
            <a:avLst/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workflow-note-text">
            <a:extLst>
              <a:ext uri="{FF2B5EF4-FFF2-40B4-BE49-F238E27FC236}">
                <a16:creationId xmlns:a16="http://schemas.microsoft.com/office/drawing/2014/main" id="{68E8C7E3-978C-40DC-B86D-F4BA60FD1DBA}"/>
              </a:ext>
            </a:extLst>
          </p:cNvPr>
          <p:cNvSpPr>
            <a:spLocks noGrp="1"/>
          </p:cNvSpPr>
          <p:nvPr/>
        </p:nvSpPr>
        <p:spPr>
          <a:xfrm>
            <a:off x="952500" y="55816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Quiks supports the cycle; the teacher remains responsible for curriculum alignment, professional judgement and learner support.</a:t>
            </a:r>
          </a:p>
        </p:txBody>
      </p:sp>
    </p:spTree>
    <p:extLst>
      <p:ext uri="{BB962C8B-B14F-4D97-AF65-F5344CB8AC3E}">
        <p14:creationId xmlns:p14="http://schemas.microsoft.com/office/powerpoint/2010/main" val="276508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-10">
            <a:extLst>
              <a:ext uri="{FF2B5EF4-FFF2-40B4-BE49-F238E27FC236}">
                <a16:creationId xmlns:a16="http://schemas.microsoft.com/office/drawing/2014/main" id="{CA31D2F0-6751-48F7-BF76-8F3BF158892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PILOT RECOMMENDATION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0F65DEEA-FF35-4E11-82EA-8991F7CA33C6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Start small, learn quickly, then scale with confidence</a:t>
            </a:r>
          </a:p>
        </p:txBody>
      </p:sp>
      <p:sp>
        <p:nvSpPr>
          <p:cNvPr id="3" name="page-10">
            <a:extLst>
              <a:ext uri="{FF2B5EF4-FFF2-40B4-BE49-F238E27FC236}">
                <a16:creationId xmlns:a16="http://schemas.microsoft.com/office/drawing/2014/main" id="{D2ECE47A-F0FB-4DA9-BDF1-2EAC4BB7574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pilot-lead">
            <a:extLst>
              <a:ext uri="{FF2B5EF4-FFF2-40B4-BE49-F238E27FC236}">
                <a16:creationId xmlns:a16="http://schemas.microsoft.com/office/drawing/2014/main" id="{96F2FE10-3E75-49AC-A600-516A867C14F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A controlled pilot lets the school test curriculum fit, teacher workflow and learner engagement before making a wider recommendation.</a:t>
            </a:r>
          </a:p>
        </p:txBody>
      </p:sp>
      <p:sp>
        <p:nvSpPr>
          <p:cNvPr id="5" name="pilot-num-0">
            <a:extLst>
              <a:ext uri="{FF2B5EF4-FFF2-40B4-BE49-F238E27FC236}">
                <a16:creationId xmlns:a16="http://schemas.microsoft.com/office/drawing/2014/main" id="{19FB50E5-4961-4ED5-B9D3-114FA9420505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ule-64-365">
            <a:extLst>
              <a:ext uri="{FF2B5EF4-FFF2-40B4-BE49-F238E27FC236}">
                <a16:creationId xmlns:a16="http://schemas.microsoft.com/office/drawing/2014/main" id="{7C8D548B-C897-4457-8DB6-5196B0160E5F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2238375" cy="38100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pilot-title-0">
            <a:extLst>
              <a:ext uri="{FF2B5EF4-FFF2-40B4-BE49-F238E27FC236}">
                <a16:creationId xmlns:a16="http://schemas.microsoft.com/office/drawing/2014/main" id="{49DB161B-BBA7-406E-90D4-7DD57E0712B0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Orient teachers</a:t>
            </a:r>
          </a:p>
        </p:txBody>
      </p:sp>
      <p:sp>
        <p:nvSpPr>
          <p:cNvPr id="8" name="pilot-body-0">
            <a:extLst>
              <a:ext uri="{FF2B5EF4-FFF2-40B4-BE49-F238E27FC236}">
                <a16:creationId xmlns:a16="http://schemas.microsoft.com/office/drawing/2014/main" id="{1FA38A53-2338-4BF2-A5F1-716E45ECA6EA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22383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Introduce the Quiks features and agree how they will support existing teaching.</a:t>
            </a:r>
          </a:p>
        </p:txBody>
      </p:sp>
      <p:sp>
        <p:nvSpPr>
          <p:cNvPr id="9" name="pilot-num-1">
            <a:extLst>
              <a:ext uri="{FF2B5EF4-FFF2-40B4-BE49-F238E27FC236}">
                <a16:creationId xmlns:a16="http://schemas.microsoft.com/office/drawing/2014/main" id="{B6E53CBB-81C0-4A44-BE19-AC392A2118EF}"/>
              </a:ext>
            </a:extLst>
          </p:cNvPr>
          <p:cNvSpPr>
            <a:spLocks noGrp="1"/>
          </p:cNvSpPr>
          <p:nvPr/>
        </p:nvSpPr>
        <p:spPr>
          <a:xfrm>
            <a:off x="3390900" y="27432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 i="0">
                <a:solidFill>
                  <a:srgbClr val="7C2BC4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7C2B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ule-356-365">
            <a:extLst>
              <a:ext uri="{FF2B5EF4-FFF2-40B4-BE49-F238E27FC236}">
                <a16:creationId xmlns:a16="http://schemas.microsoft.com/office/drawing/2014/main" id="{8B76B5BB-3BD3-47D5-9E65-F3675F848B54}"/>
              </a:ext>
            </a:extLst>
          </p:cNvPr>
          <p:cNvSpPr>
            <a:spLocks noGrp="1"/>
          </p:cNvSpPr>
          <p:nvPr/>
        </p:nvSpPr>
        <p:spPr>
          <a:xfrm>
            <a:off x="3390900" y="3476625"/>
            <a:ext cx="2238375" cy="38100"/>
          </a:xfrm>
          <a:prstGeom prst="rect">
            <a:avLst/>
          </a:prstGeom>
          <a:solidFill>
            <a:srgbClr val="7C2BC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pilot-title-1">
            <a:extLst>
              <a:ext uri="{FF2B5EF4-FFF2-40B4-BE49-F238E27FC236}">
                <a16:creationId xmlns:a16="http://schemas.microsoft.com/office/drawing/2014/main" id="{DB40FAA3-E816-41A6-BADB-91E13F0B50DF}"/>
              </a:ext>
            </a:extLst>
          </p:cNvPr>
          <p:cNvSpPr>
            <a:spLocks noGrp="1"/>
          </p:cNvSpPr>
          <p:nvPr/>
        </p:nvSpPr>
        <p:spPr>
          <a:xfrm>
            <a:off x="3390900" y="377190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Select the cohort</a:t>
            </a:r>
          </a:p>
        </p:txBody>
      </p:sp>
      <p:sp>
        <p:nvSpPr>
          <p:cNvPr id="12" name="pilot-body-1">
            <a:extLst>
              <a:ext uri="{FF2B5EF4-FFF2-40B4-BE49-F238E27FC236}">
                <a16:creationId xmlns:a16="http://schemas.microsoft.com/office/drawing/2014/main" id="{C9BE8C1B-5532-4A4A-9899-37EC1224EB1E}"/>
              </a:ext>
            </a:extLst>
          </p:cNvPr>
          <p:cNvSpPr>
            <a:spLocks noGrp="1"/>
          </p:cNvSpPr>
          <p:nvPr/>
        </p:nvSpPr>
        <p:spPr>
          <a:xfrm>
            <a:off x="3390900" y="4438650"/>
            <a:ext cx="22383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Nominate a school representative, teacher champions and a learner group.</a:t>
            </a:r>
          </a:p>
        </p:txBody>
      </p:sp>
      <p:sp>
        <p:nvSpPr>
          <p:cNvPr id="13" name="pilot-num-2">
            <a:extLst>
              <a:ext uri="{FF2B5EF4-FFF2-40B4-BE49-F238E27FC236}">
                <a16:creationId xmlns:a16="http://schemas.microsoft.com/office/drawing/2014/main" id="{1349AC12-4A66-4560-A0F5-4662A67DE88F}"/>
              </a:ext>
            </a:extLst>
          </p:cNvPr>
          <p:cNvSpPr>
            <a:spLocks noGrp="1"/>
          </p:cNvSpPr>
          <p:nvPr/>
        </p:nvSpPr>
        <p:spPr>
          <a:xfrm>
            <a:off x="6172200" y="27432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ule-648-365">
            <a:extLst>
              <a:ext uri="{FF2B5EF4-FFF2-40B4-BE49-F238E27FC236}">
                <a16:creationId xmlns:a16="http://schemas.microsoft.com/office/drawing/2014/main" id="{E2177324-AB4E-451E-8DC3-1A6AE4F14834}"/>
              </a:ext>
            </a:extLst>
          </p:cNvPr>
          <p:cNvSpPr>
            <a:spLocks noGrp="1"/>
          </p:cNvSpPr>
          <p:nvPr/>
        </p:nvSpPr>
        <p:spPr>
          <a:xfrm>
            <a:off x="6172200" y="3476625"/>
            <a:ext cx="2238375" cy="38100"/>
          </a:xfrm>
          <a:prstGeom prst="rect">
            <a:avLst/>
          </a:prstGeom>
          <a:solidFill>
            <a:srgbClr val="159A8C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pilot-title-2">
            <a:extLst>
              <a:ext uri="{FF2B5EF4-FFF2-40B4-BE49-F238E27FC236}">
                <a16:creationId xmlns:a16="http://schemas.microsoft.com/office/drawing/2014/main" id="{898E3A2B-3D24-4DEC-AB13-9FB043046063}"/>
              </a:ext>
            </a:extLst>
          </p:cNvPr>
          <p:cNvSpPr>
            <a:spLocks noGrp="1"/>
          </p:cNvSpPr>
          <p:nvPr/>
        </p:nvSpPr>
        <p:spPr>
          <a:xfrm>
            <a:off x="6172200" y="377190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Run the pilot</a:t>
            </a:r>
          </a:p>
        </p:txBody>
      </p:sp>
      <p:sp>
        <p:nvSpPr>
          <p:cNvPr id="16" name="pilot-body-2">
            <a:extLst>
              <a:ext uri="{FF2B5EF4-FFF2-40B4-BE49-F238E27FC236}">
                <a16:creationId xmlns:a16="http://schemas.microsoft.com/office/drawing/2014/main" id="{EFE4B628-8534-4486-BC5E-AFBC7FE8AEA4}"/>
              </a:ext>
            </a:extLst>
          </p:cNvPr>
          <p:cNvSpPr>
            <a:spLocks noGrp="1"/>
          </p:cNvSpPr>
          <p:nvPr/>
        </p:nvSpPr>
        <p:spPr>
          <a:xfrm>
            <a:off x="6172200" y="4438650"/>
            <a:ext cx="22383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Use agreed subjects and routines for a defined period within the school calendar.</a:t>
            </a:r>
          </a:p>
        </p:txBody>
      </p:sp>
      <p:sp>
        <p:nvSpPr>
          <p:cNvPr id="17" name="pilot-num-3">
            <a:extLst>
              <a:ext uri="{FF2B5EF4-FFF2-40B4-BE49-F238E27FC236}">
                <a16:creationId xmlns:a16="http://schemas.microsoft.com/office/drawing/2014/main" id="{95980013-718A-4D0C-B029-E3C0534C588E}"/>
              </a:ext>
            </a:extLst>
          </p:cNvPr>
          <p:cNvSpPr>
            <a:spLocks noGrp="1"/>
          </p:cNvSpPr>
          <p:nvPr/>
        </p:nvSpPr>
        <p:spPr>
          <a:xfrm>
            <a:off x="8953500" y="2743200"/>
            <a:ext cx="47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 i="0">
                <a:solidFill>
                  <a:srgbClr val="7C2BC4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7C2B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ule-940-365">
            <a:extLst>
              <a:ext uri="{FF2B5EF4-FFF2-40B4-BE49-F238E27FC236}">
                <a16:creationId xmlns:a16="http://schemas.microsoft.com/office/drawing/2014/main" id="{1C7522F0-32AC-4183-88C5-D0FB7A567CBE}"/>
              </a:ext>
            </a:extLst>
          </p:cNvPr>
          <p:cNvSpPr>
            <a:spLocks noGrp="1"/>
          </p:cNvSpPr>
          <p:nvPr/>
        </p:nvSpPr>
        <p:spPr>
          <a:xfrm>
            <a:off x="8953500" y="3476625"/>
            <a:ext cx="2238375" cy="38100"/>
          </a:xfrm>
          <a:prstGeom prst="rect">
            <a:avLst/>
          </a:prstGeom>
          <a:solidFill>
            <a:srgbClr val="7C2BC4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pilot-title-3">
            <a:extLst>
              <a:ext uri="{FF2B5EF4-FFF2-40B4-BE49-F238E27FC236}">
                <a16:creationId xmlns:a16="http://schemas.microsoft.com/office/drawing/2014/main" id="{E129BDDF-5FF2-4EA2-BEE5-2FBA9B624A1C}"/>
              </a:ext>
            </a:extLst>
          </p:cNvPr>
          <p:cNvSpPr>
            <a:spLocks noGrp="1"/>
          </p:cNvSpPr>
          <p:nvPr/>
        </p:nvSpPr>
        <p:spPr>
          <a:xfrm>
            <a:off x="8953500" y="377190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Review and decide</a:t>
            </a:r>
          </a:p>
        </p:txBody>
      </p:sp>
      <p:sp>
        <p:nvSpPr>
          <p:cNvPr id="20" name="pilot-body-3">
            <a:extLst>
              <a:ext uri="{FF2B5EF4-FFF2-40B4-BE49-F238E27FC236}">
                <a16:creationId xmlns:a16="http://schemas.microsoft.com/office/drawing/2014/main" id="{7F1D4A65-766C-439D-B2E6-0073890895E2}"/>
              </a:ext>
            </a:extLst>
          </p:cNvPr>
          <p:cNvSpPr>
            <a:spLocks noGrp="1"/>
          </p:cNvSpPr>
          <p:nvPr/>
        </p:nvSpPr>
        <p:spPr>
          <a:xfrm>
            <a:off x="8953500" y="4438650"/>
            <a:ext cx="22383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6"/>
                </a:solidFill>
                <a:latin typeface="Arial"/>
                <a:ea typeface="Arial"/>
                <a:cs typeface="Arial"/>
              </a:rPr>
              <a:t>Gather structured teacher and learner feedback before broader deployment.</a:t>
            </a:r>
          </a:p>
        </p:txBody>
      </p:sp>
    </p:spTree>
    <p:extLst>
      <p:ext uri="{BB962C8B-B14F-4D97-AF65-F5344CB8AC3E}">
        <p14:creationId xmlns:p14="http://schemas.microsoft.com/office/powerpoint/2010/main" val="3098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losing-logo-backing">
            <a:extLst>
              <a:ext uri="{FF2B5EF4-FFF2-40B4-BE49-F238E27FC236}">
                <a16:creationId xmlns:a16="http://schemas.microsoft.com/office/drawing/2014/main" id="{37077CD9-26A2-4C55-9EE2-0CB51B1D393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3810000" cy="1314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5409" y="400050"/>
            <a:ext cx="3487882" cy="1009650"/>
          </a:xfrm>
          <a:prstGeom prst="rect">
            <a:avLst/>
          </a:prstGeom>
        </p:spPr>
      </p:pic>
      <p:sp>
        <p:nvSpPr>
          <p:cNvPr id="3" name="closing-kicker">
            <a:extLst>
              <a:ext uri="{FF2B5EF4-FFF2-40B4-BE49-F238E27FC236}">
                <a16:creationId xmlns:a16="http://schemas.microsoft.com/office/drawing/2014/main" id="{2FC1F952-AF37-4A8F-B785-D31632C61AC7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8FE2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FE2D7"/>
                </a:solidFill>
                <a:latin typeface="Arial"/>
                <a:ea typeface="Arial"/>
                <a:cs typeface="Arial"/>
              </a:rPr>
              <a:t>PROPOSED NEXT STEP</a:t>
            </a:r>
          </a:p>
        </p:txBody>
      </p:sp>
      <p:sp>
        <p:nvSpPr>
          <p:cNvPr id="4" name="closing-title">
            <a:extLst>
              <a:ext uri="{FF2B5EF4-FFF2-40B4-BE49-F238E27FC236}">
                <a16:creationId xmlns:a16="http://schemas.microsoft.com/office/drawing/2014/main" id="{C8B43FDD-3E50-45B9-9A97-AB7C7899F6B4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7239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 a 20-minute demonstration and scoping conversation</a:t>
            </a:r>
          </a:p>
        </p:txBody>
      </p:sp>
      <p:sp>
        <p:nvSpPr>
          <p:cNvPr id="5" name="closing-body">
            <a:extLst>
              <a:ext uri="{FF2B5EF4-FFF2-40B4-BE49-F238E27FC236}">
                <a16:creationId xmlns:a16="http://schemas.microsoft.com/office/drawing/2014/main" id="{A03CFAD6-DAAC-4CF1-A6FA-0B7C843F3D8F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685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CE7EC"/>
                </a:solidFill>
                <a:latin typeface="Arial"/>
                <a:ea typeface="Arial"/>
                <a:cs typeface="Arial"/>
              </a:rPr>
              <a:t>Together, we can identify the right Quiks variant, priority use case and an agreed route to teacher onboarding and school-wide recommendation.</a:t>
            </a:r>
          </a:p>
        </p:txBody>
      </p:sp>
      <p:sp>
        <p:nvSpPr>
          <p:cNvPr id="6" name="closing-contact">
            <a:extLst>
              <a:ext uri="{FF2B5EF4-FFF2-40B4-BE49-F238E27FC236}">
                <a16:creationId xmlns:a16="http://schemas.microsoft.com/office/drawing/2014/main" id="{8FD92217-6261-429C-A196-FBEA35DE8DEC}"/>
              </a:ext>
            </a:extLst>
          </p:cNvPr>
          <p:cNvSpPr>
            <a:spLocks noGrp="1"/>
          </p:cNvSpPr>
          <p:nvPr/>
        </p:nvSpPr>
        <p:spPr>
          <a:xfrm>
            <a:off x="8096250" y="1885950"/>
            <a:ext cx="3352800" cy="3524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closing-contact-label">
            <a:extLst>
              <a:ext uri="{FF2B5EF4-FFF2-40B4-BE49-F238E27FC236}">
                <a16:creationId xmlns:a16="http://schemas.microsoft.com/office/drawing/2014/main" id="{B6C8532D-B737-4C4F-9308-D4AF4D569F38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9A8C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8" name="closing-name">
            <a:extLst>
              <a:ext uri="{FF2B5EF4-FFF2-40B4-BE49-F238E27FC236}">
                <a16:creationId xmlns:a16="http://schemas.microsoft.com/office/drawing/2014/main" id="{668CECA5-DD16-4D6C-B326-C1B06AA98F2C}"/>
              </a:ext>
            </a:extLst>
          </p:cNvPr>
          <p:cNvSpPr>
            <a:spLocks noGrp="1"/>
          </p:cNvSpPr>
          <p:nvPr/>
        </p:nvSpPr>
        <p:spPr>
          <a:xfrm>
            <a:off x="8477250" y="28384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lang="en-US" sz="1650" b="1" i="0" dirty="0">
                <a:solidFill>
                  <a:srgbClr val="0F2130"/>
                </a:solidFill>
                <a:latin typeface="Arial"/>
                <a:ea typeface="Arial"/>
                <a:cs typeface="Arial"/>
              </a:rPr>
              <a:t>[</a:t>
            </a:r>
            <a:r>
              <a:rPr lang="en-US" sz="1650" b="1" dirty="0">
                <a:solidFill>
                  <a:srgbClr val="0F2130"/>
                </a:solidFill>
                <a:latin typeface="Arial"/>
                <a:ea typeface="Arial"/>
                <a:cs typeface="Arial"/>
              </a:rPr>
              <a:t>NAME</a:t>
            </a:r>
            <a:r>
              <a:rPr lang="en-US" sz="1650" b="1" i="0" dirty="0">
                <a:solidFill>
                  <a:srgbClr val="0F2130"/>
                </a:solidFill>
                <a:latin typeface="Arial"/>
                <a:ea typeface="Arial"/>
                <a:cs typeface="Arial"/>
              </a:rPr>
              <a:t>]</a:t>
            </a:r>
            <a:endParaRPr sz="1650" b="1" i="0" dirty="0">
              <a:solidFill>
                <a:srgbClr val="0F21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closing-role">
            <a:extLst>
              <a:ext uri="{FF2B5EF4-FFF2-40B4-BE49-F238E27FC236}">
                <a16:creationId xmlns:a16="http://schemas.microsoft.com/office/drawing/2014/main" id="{1E102F6F-8095-4E72-91B5-43C4036744E0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lang="en-US" sz="1275" b="0" i="0" dirty="0">
                <a:solidFill>
                  <a:srgbClr val="5F6B76"/>
                </a:solidFill>
                <a:latin typeface="Arial"/>
                <a:ea typeface="Arial"/>
                <a:cs typeface="Arial"/>
              </a:rPr>
              <a:t>[</a:t>
            </a:r>
            <a:r>
              <a:rPr lang="en-US" sz="1275" dirty="0">
                <a:solidFill>
                  <a:srgbClr val="5F6B76"/>
                </a:solidFill>
                <a:latin typeface="Arial"/>
                <a:ea typeface="Arial"/>
                <a:cs typeface="Arial"/>
              </a:rPr>
              <a:t>TITLE</a:t>
            </a:r>
            <a:r>
              <a:rPr lang="en-US" sz="1275" b="0" i="0" dirty="0">
                <a:solidFill>
                  <a:srgbClr val="5F6B76"/>
                </a:solidFill>
                <a:latin typeface="Arial"/>
                <a:ea typeface="Arial"/>
                <a:cs typeface="Arial"/>
              </a:rPr>
              <a:t>]</a:t>
            </a:r>
            <a:endParaRPr sz="1275" b="0" i="0" dirty="0">
              <a:solidFill>
                <a:srgbClr val="5F6B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ule-890-396">
            <a:extLst>
              <a:ext uri="{FF2B5EF4-FFF2-40B4-BE49-F238E27FC236}">
                <a16:creationId xmlns:a16="http://schemas.microsoft.com/office/drawing/2014/main" id="{549AE688-DB6E-4E47-86CB-693F5C60CFAE}"/>
              </a:ext>
            </a:extLst>
          </p:cNvPr>
          <p:cNvSpPr>
            <a:spLocks noGrp="1"/>
          </p:cNvSpPr>
          <p:nvPr/>
        </p:nvSpPr>
        <p:spPr>
          <a:xfrm>
            <a:off x="8477250" y="3771900"/>
            <a:ext cx="2571750" cy="9525"/>
          </a:xfrm>
          <a:prstGeom prst="rect">
            <a:avLst/>
          </a:prstGeom>
          <a:solidFill>
            <a:srgbClr val="CCD3D9"/>
          </a:solidFill>
          <a:ln w="0">
            <a:noFill/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closing-email">
            <a:extLst>
              <a:ext uri="{FF2B5EF4-FFF2-40B4-BE49-F238E27FC236}">
                <a16:creationId xmlns:a16="http://schemas.microsoft.com/office/drawing/2014/main" id="{352A6551-2602-4F56-9205-7F0C6F375F11}"/>
              </a:ext>
            </a:extLst>
          </p:cNvPr>
          <p:cNvSpPr>
            <a:spLocks noGrp="1"/>
          </p:cNvSpPr>
          <p:nvPr/>
        </p:nvSpPr>
        <p:spPr>
          <a:xfrm>
            <a:off x="8477250" y="40576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0F21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2130"/>
                </a:solidFill>
                <a:latin typeface="Arial"/>
                <a:ea typeface="Arial"/>
                <a:cs typeface="Arial"/>
              </a:rPr>
              <a:t>quiks@techsolutionproviders.net</a:t>
            </a:r>
          </a:p>
        </p:txBody>
      </p:sp>
      <p:sp>
        <p:nvSpPr>
          <p:cNvPr id="12" name="closing-phone">
            <a:extLst>
              <a:ext uri="{FF2B5EF4-FFF2-40B4-BE49-F238E27FC236}">
                <a16:creationId xmlns:a16="http://schemas.microsoft.com/office/drawing/2014/main" id="{197AA6B6-D6CC-4058-BC34-356C5996A146}"/>
              </a:ext>
            </a:extLst>
          </p:cNvPr>
          <p:cNvSpPr>
            <a:spLocks noGrp="1"/>
          </p:cNvSpPr>
          <p:nvPr/>
        </p:nvSpPr>
        <p:spPr>
          <a:xfrm>
            <a:off x="8477250" y="47244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59A8C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159A8C"/>
                </a:solidFill>
                <a:latin typeface="Arial"/>
                <a:ea typeface="Arial"/>
                <a:cs typeface="Arial"/>
              </a:rPr>
              <a:t>[</a:t>
            </a:r>
            <a:r>
              <a:rPr lang="en-US" sz="1350" b="1" dirty="0">
                <a:solidFill>
                  <a:srgbClr val="159A8C"/>
                </a:solidFill>
                <a:latin typeface="Arial"/>
                <a:ea typeface="Arial"/>
                <a:cs typeface="Arial"/>
              </a:rPr>
              <a:t>PHONE NO.</a:t>
            </a:r>
            <a:r>
              <a:rPr lang="en-US" sz="1350" b="1" i="0" dirty="0">
                <a:solidFill>
                  <a:srgbClr val="159A8C"/>
                </a:solidFill>
                <a:latin typeface="Arial"/>
                <a:ea typeface="Arial"/>
                <a:cs typeface="Arial"/>
              </a:rPr>
              <a:t>]</a:t>
            </a:r>
            <a:endParaRPr sz="1350" b="1" i="0" dirty="0">
              <a:solidFill>
                <a:srgbClr val="159A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losing-tagline">
            <a:extLst>
              <a:ext uri="{FF2B5EF4-FFF2-40B4-BE49-F238E27FC236}">
                <a16:creationId xmlns:a16="http://schemas.microsoft.com/office/drawing/2014/main" id="{E158A46E-04F0-4DCF-84D4-DED1F6D5F850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8FE2D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FE2D7"/>
                </a:solidFill>
                <a:latin typeface="Arial"/>
                <a:ea typeface="Arial"/>
                <a:cs typeface="Arial"/>
              </a:rPr>
              <a:t>Quiks: Learn fast. Grow steadily.</a:t>
            </a:r>
          </a:p>
        </p:txBody>
      </p:sp>
    </p:spTree>
    <p:extLst>
      <p:ext uri="{BB962C8B-B14F-4D97-AF65-F5344CB8AC3E}">
        <p14:creationId xmlns:p14="http://schemas.microsoft.com/office/powerpoint/2010/main" val="19486832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1128</Words>
  <Application>Microsoft Office PowerPoint</Application>
  <DocSecurity>0</DocSecurity>
  <PresentationFormat>Widescreen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Matthew Onah</cp:lastModifiedBy>
  <cp:revision>4</cp:revision>
  <dcterms:created xsi:type="dcterms:W3CDTF">2026-08-14T11:52:20Z</dcterms:created>
  <dcterms:modified xsi:type="dcterms:W3CDTF">2026-08-14T13:39:16Z</dcterms:modified>
</cp:coreProperties>
</file>